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97" r:id="rId2"/>
    <p:sldId id="259" r:id="rId3"/>
    <p:sldId id="308" r:id="rId4"/>
    <p:sldId id="316" r:id="rId5"/>
    <p:sldId id="327" r:id="rId6"/>
    <p:sldId id="328" r:id="rId7"/>
    <p:sldId id="329" r:id="rId8"/>
    <p:sldId id="310" r:id="rId9"/>
    <p:sldId id="330" r:id="rId10"/>
    <p:sldId id="311" r:id="rId11"/>
    <p:sldId id="312" r:id="rId12"/>
    <p:sldId id="323" r:id="rId13"/>
    <p:sldId id="324" r:id="rId14"/>
    <p:sldId id="325" r:id="rId15"/>
    <p:sldId id="314" r:id="rId16"/>
    <p:sldId id="318" r:id="rId17"/>
    <p:sldId id="319" r:id="rId18"/>
    <p:sldId id="326" r:id="rId19"/>
    <p:sldId id="315" r:id="rId20"/>
    <p:sldId id="320" r:id="rId21"/>
    <p:sldId id="321" r:id="rId22"/>
    <p:sldId id="322" r:id="rId23"/>
    <p:sldId id="331" r:id="rId24"/>
    <p:sldId id="332" r:id="rId25"/>
    <p:sldId id="313"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12" autoAdjust="0"/>
    <p:restoredTop sz="94660"/>
  </p:normalViewPr>
  <p:slideViewPr>
    <p:cSldViewPr>
      <p:cViewPr varScale="1">
        <p:scale>
          <a:sx n="78" d="100"/>
          <a:sy n="78" d="100"/>
        </p:scale>
        <p:origin x="1651"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155A66-DA8B-A442-B7B8-E660A3F1635A}" type="datetimeFigureOut">
              <a:rPr lang="en-US" smtClean="0"/>
              <a:pPr/>
              <a:t>6/17/2026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834EB36-0EA7-924E-B9AD-99CC02F34E0D}" type="slidenum">
              <a:rPr lang="en-US" smtClean="0"/>
              <a:pPr/>
              <a:t>‹#›</a:t>
            </a:fld>
            <a:endParaRPr lang="en-US"/>
          </a:p>
        </p:txBody>
      </p:sp>
    </p:spTree>
    <p:extLst>
      <p:ext uri="{BB962C8B-B14F-4D97-AF65-F5344CB8AC3E}">
        <p14:creationId xmlns:p14="http://schemas.microsoft.com/office/powerpoint/2010/main" val="207724141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834EB36-0EA7-924E-B9AD-99CC02F34E0D}" type="slidenum">
              <a:rPr lang="en-US" smtClean="0"/>
              <a:pPr/>
              <a:t>1</a:t>
            </a:fld>
            <a:endParaRPr lang="en-US" dirty="0"/>
          </a:p>
        </p:txBody>
      </p:sp>
    </p:spTree>
    <p:extLst>
      <p:ext uri="{BB962C8B-B14F-4D97-AF65-F5344CB8AC3E}">
        <p14:creationId xmlns:p14="http://schemas.microsoft.com/office/powerpoint/2010/main" val="3157086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46404" y="758952"/>
            <a:ext cx="7063740" cy="4041648"/>
          </a:xfrm>
        </p:spPr>
        <p:txBody>
          <a:bodyPr anchor="b">
            <a:normAutofit/>
          </a:bodyPr>
          <a:lstStyle>
            <a:lvl1pPr algn="l">
              <a:lnSpc>
                <a:spcPct val="85000"/>
              </a:lnSpc>
              <a:defRPr sz="66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946404" y="4800600"/>
            <a:ext cx="7063740" cy="1691640"/>
          </a:xfrm>
        </p:spPr>
        <p:txBody>
          <a:bodyPr>
            <a:normAutofit/>
          </a:bodyPr>
          <a:lstStyle>
            <a:lvl1pPr marL="0" indent="0" algn="l">
              <a:buNone/>
              <a:defRPr sz="2000" baseline="0">
                <a:solidFill>
                  <a:schemeClr val="tx1">
                    <a:lumMod val="8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lvl1pPr>
              <a:defRPr>
                <a:solidFill>
                  <a:schemeClr val="bg2">
                    <a:lumMod val="20000"/>
                    <a:lumOff val="80000"/>
                  </a:schemeClr>
                </a:solidFill>
              </a:defRPr>
            </a:lvl1pPr>
          </a:lstStyle>
          <a:p>
            <a:fld id="{563E89D1-A86C-4F69-93B0-4D2EAF065D20}" type="datetimeFigureOut">
              <a:rPr lang="en-US" smtClean="0"/>
              <a:pPr/>
              <a:t>6/17/2026</a:t>
            </a:fld>
            <a:endParaRPr lang="en-US"/>
          </a:p>
        </p:txBody>
      </p:sp>
      <p:sp>
        <p:nvSpPr>
          <p:cNvPr id="9" name="Footer Placeholder 8"/>
          <p:cNvSpPr>
            <a:spLocks noGrp="1"/>
          </p:cNvSpPr>
          <p:nvPr>
            <p:ph type="ftr" sz="quarter" idx="11"/>
          </p:nvPr>
        </p:nvSpPr>
        <p:spPr/>
        <p:txBody>
          <a:bodyPr/>
          <a:lstStyle>
            <a:lvl1pPr>
              <a:defRPr>
                <a:solidFill>
                  <a:schemeClr val="bg2">
                    <a:lumMod val="20000"/>
                    <a:lumOff val="80000"/>
                  </a:schemeClr>
                </a:solidFill>
              </a:defRPr>
            </a:lvl1pPr>
          </a:lstStyle>
          <a:p>
            <a:endParaRPr lang="en-US"/>
          </a:p>
        </p:txBody>
      </p:sp>
      <p:sp>
        <p:nvSpPr>
          <p:cNvPr id="10" name="Slide Number Placeholder 9"/>
          <p:cNvSpPr>
            <a:spLocks noGrp="1"/>
          </p:cNvSpPr>
          <p:nvPr>
            <p:ph type="sldNum" sz="quarter" idx="12"/>
          </p:nvPr>
        </p:nvSpPr>
        <p:spPr/>
        <p:txBody>
          <a:bodyPr/>
          <a:lstStyle>
            <a:lvl1pPr>
              <a:defRPr>
                <a:solidFill>
                  <a:schemeClr val="bg2">
                    <a:lumMod val="60000"/>
                    <a:lumOff val="40000"/>
                  </a:schemeClr>
                </a:solidFill>
              </a:defRPr>
            </a:lvl1pPr>
          </a:lstStyle>
          <a:p>
            <a:fld id="{29F57C97-B46C-4A57-8520-F5BBDB84AE72}" type="slidenum">
              <a:rPr lang="en-US" smtClean="0"/>
              <a:pPr/>
              <a:t>‹#›</a:t>
            </a:fld>
            <a:endParaRPr lang="en-US"/>
          </a:p>
        </p:txBody>
      </p:sp>
    </p:spTree>
    <p:extLst>
      <p:ext uri="{BB962C8B-B14F-4D97-AF65-F5344CB8AC3E}">
        <p14:creationId xmlns:p14="http://schemas.microsoft.com/office/powerpoint/2010/main" val="1886170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3E89D1-A86C-4F69-93B0-4D2EAF065D20}"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F57C97-B46C-4A57-8520-F5BBDB84AE72}" type="slidenum">
              <a:rPr lang="en-US" smtClean="0"/>
              <a:pPr/>
              <a:t>‹#›</a:t>
            </a:fld>
            <a:endParaRPr lang="en-US"/>
          </a:p>
        </p:txBody>
      </p:sp>
    </p:spTree>
    <p:extLst>
      <p:ext uri="{BB962C8B-B14F-4D97-AF65-F5344CB8AC3E}">
        <p14:creationId xmlns:p14="http://schemas.microsoft.com/office/powerpoint/2010/main" val="2669259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46404" y="758952"/>
            <a:ext cx="7063740" cy="4041648"/>
          </a:xfrm>
        </p:spPr>
        <p:txBody>
          <a:bodyPr anchor="b">
            <a:normAutofit/>
          </a:bodyPr>
          <a:lstStyle>
            <a:lvl1pPr>
              <a:lnSpc>
                <a:spcPct val="85000"/>
              </a:lnSpc>
              <a:defRPr sz="6600" b="0"/>
            </a:lvl1pPr>
          </a:lstStyle>
          <a:p>
            <a:r>
              <a:rPr lang="en-US"/>
              <a:t>Click to edit Master title style</a:t>
            </a:r>
            <a:endParaRPr lang="en-US" dirty="0"/>
          </a:p>
        </p:txBody>
      </p:sp>
      <p:sp>
        <p:nvSpPr>
          <p:cNvPr id="3" name="Text Placeholder 2"/>
          <p:cNvSpPr>
            <a:spLocks noGrp="1"/>
          </p:cNvSpPr>
          <p:nvPr>
            <p:ph type="body" idx="1"/>
          </p:nvPr>
        </p:nvSpPr>
        <p:spPr>
          <a:xfrm>
            <a:off x="946404" y="4800600"/>
            <a:ext cx="7063740" cy="1691640"/>
          </a:xfrm>
        </p:spPr>
        <p:txBody>
          <a:bodyPr anchor="t">
            <a:normAutofit/>
          </a:bodyPr>
          <a:lstStyle>
            <a:lvl1pPr marL="0" indent="0">
              <a:buNone/>
              <a:defRPr sz="20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3E89D1-A86C-4F69-93B0-4D2EAF065D20}"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F57C97-B46C-4A57-8520-F5BBDB84AE72}" type="slidenum">
              <a:rPr lang="en-US" smtClean="0"/>
              <a:pPr/>
              <a:t>‹#›</a:t>
            </a:fld>
            <a:endParaRPr lang="en-US"/>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18020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6404"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94860"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3E89D1-A86C-4F69-93B0-4D2EAF065D20}"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F57C97-B46C-4A57-8520-F5BBDB84AE72}" type="slidenum">
              <a:rPr lang="en-US" smtClean="0"/>
              <a:pPr/>
              <a:t>‹#›</a:t>
            </a:fld>
            <a:endParaRPr lang="en-US"/>
          </a:p>
        </p:txBody>
      </p:sp>
    </p:spTree>
    <p:extLst>
      <p:ext uri="{BB962C8B-B14F-4D97-AF65-F5344CB8AC3E}">
        <p14:creationId xmlns:p14="http://schemas.microsoft.com/office/powerpoint/2010/main" val="2949134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6404" y="1717185"/>
            <a:ext cx="3360420" cy="731520"/>
          </a:xfrm>
        </p:spPr>
        <p:txBody>
          <a:bodyPr anchor="b">
            <a:normAutofit/>
          </a:bodyPr>
          <a:lstStyle>
            <a:lvl1pPr marL="0" indent="0">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46404"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p:cNvSpPr>
            <a:spLocks noGrp="1"/>
          </p:cNvSpPr>
          <p:nvPr>
            <p:ph type="body" sz="quarter" idx="13"/>
          </p:nvPr>
        </p:nvSpPr>
        <p:spPr>
          <a:xfrm>
            <a:off x="4599432" y="1717185"/>
            <a:ext cx="3364992" cy="731520"/>
          </a:xfrm>
        </p:spPr>
        <p:txBody>
          <a:bodyPr anchor="b">
            <a:normAutofit/>
          </a:bodyPr>
          <a:lstStyle>
            <a:lvl1pPr marL="0" indent="0">
              <a:buFontTx/>
              <a:buNone/>
              <a:defRPr lang="en-US" sz="1800" b="0" kern="1200" spc="10" baseline="0" dirty="0">
                <a:solidFill>
                  <a:schemeClr val="tx2"/>
                </a:solidFill>
                <a:latin typeface="+mn-lt"/>
                <a:ea typeface="+mn-ea"/>
                <a:cs typeface="+mn-cs"/>
              </a:defRPr>
            </a:lvl1pPr>
          </a:lstStyle>
          <a:p>
            <a:pPr marL="0" lvl="0" indent="0" algn="l" defTabSz="914400" rtl="0" eaLnBrk="1" latinLnBrk="0" hangingPunct="1">
              <a:lnSpc>
                <a:spcPct val="95000"/>
              </a:lnSpc>
              <a:spcBef>
                <a:spcPts val="0"/>
              </a:spcBef>
              <a:spcAft>
                <a:spcPts val="200"/>
              </a:spcAft>
              <a:buClr>
                <a:schemeClr val="accent1"/>
              </a:buClr>
              <a:buSzPct val="80000"/>
              <a:buNone/>
            </a:pPr>
            <a:r>
              <a:rPr lang="en-US"/>
              <a:t>Click to edit Master text styles</a:t>
            </a:r>
          </a:p>
        </p:txBody>
      </p:sp>
      <p:sp>
        <p:nvSpPr>
          <p:cNvPr id="6" name="Content Placeholder 5"/>
          <p:cNvSpPr>
            <a:spLocks noGrp="1"/>
          </p:cNvSpPr>
          <p:nvPr>
            <p:ph sz="quarter" idx="4"/>
          </p:nvPr>
        </p:nvSpPr>
        <p:spPr>
          <a:xfrm>
            <a:off x="4594860"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3E89D1-A86C-4F69-93B0-4D2EAF065D20}" type="datetimeFigureOut">
              <a:rPr lang="en-US" smtClean="0"/>
              <a:pPr/>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F57C97-B46C-4A57-8520-F5BBDB84AE72}" type="slidenum">
              <a:rPr lang="en-US" smtClean="0"/>
              <a:pPr/>
              <a:t>‹#›</a:t>
            </a:fld>
            <a:endParaRPr lang="en-US"/>
          </a:p>
        </p:txBody>
      </p:sp>
    </p:spTree>
    <p:extLst>
      <p:ext uri="{BB962C8B-B14F-4D97-AF65-F5344CB8AC3E}">
        <p14:creationId xmlns:p14="http://schemas.microsoft.com/office/powerpoint/2010/main" val="3851420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3E89D1-A86C-4F69-93B0-4D2EAF065D20}" type="datetimeFigureOut">
              <a:rPr lang="en-US" smtClean="0"/>
              <a:pPr/>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F57C97-B46C-4A57-8520-F5BBDB84AE72}" type="slidenum">
              <a:rPr lang="en-US" smtClean="0"/>
              <a:pPr/>
              <a:t>‹#›</a:t>
            </a:fld>
            <a:endParaRPr lang="en-US"/>
          </a:p>
        </p:txBody>
      </p:sp>
    </p:spTree>
    <p:extLst>
      <p:ext uri="{BB962C8B-B14F-4D97-AF65-F5344CB8AC3E}">
        <p14:creationId xmlns:p14="http://schemas.microsoft.com/office/powerpoint/2010/main" val="943588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3E89D1-A86C-4F69-93B0-4D2EAF065D20}" type="datetimeFigureOut">
              <a:rPr lang="en-US" smtClean="0"/>
              <a:pPr/>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F57C97-B46C-4A57-8520-F5BBDB84AE72}" type="slidenum">
              <a:rPr lang="en-US" smtClean="0"/>
              <a:pPr/>
              <a:t>‹#›</a:t>
            </a:fld>
            <a:endParaRPr lang="en-US"/>
          </a:p>
        </p:txBody>
      </p:sp>
    </p:spTree>
    <p:extLst>
      <p:ext uri="{BB962C8B-B14F-4D97-AF65-F5344CB8AC3E}">
        <p14:creationId xmlns:p14="http://schemas.microsoft.com/office/powerpoint/2010/main" val="4213822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400300" cy="1600197"/>
          </a:xfrm>
        </p:spPr>
        <p:txBody>
          <a:bodyPr anchor="b">
            <a:normAutofit/>
          </a:bodyPr>
          <a:lstStyle>
            <a:lvl1pPr>
              <a:defRPr sz="2800" b="0" baseline="0"/>
            </a:lvl1pPr>
          </a:lstStyle>
          <a:p>
            <a:r>
              <a:rPr lang="en-US"/>
              <a:t>Click to edit Master title style</a:t>
            </a:r>
            <a:endParaRPr lang="en-US" dirty="0"/>
          </a:p>
        </p:txBody>
      </p:sp>
      <p:sp>
        <p:nvSpPr>
          <p:cNvPr id="3" name="Content Placeholder 2"/>
          <p:cNvSpPr>
            <a:spLocks noGrp="1"/>
          </p:cNvSpPr>
          <p:nvPr>
            <p:ph idx="1"/>
          </p:nvPr>
        </p:nvSpPr>
        <p:spPr>
          <a:xfrm>
            <a:off x="3378200" y="685800"/>
            <a:ext cx="4559300" cy="5486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99735"/>
            <a:ext cx="24003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3E89D1-A86C-4F69-93B0-4D2EAF065D20}"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F57C97-B46C-4A57-8520-F5BBDB84AE72}" type="slidenum">
              <a:rPr lang="en-US" smtClean="0"/>
              <a:pPr/>
              <a:t>‹#›</a:t>
            </a:fld>
            <a:endParaRPr lang="en-US"/>
          </a:p>
        </p:txBody>
      </p:sp>
    </p:spTree>
    <p:extLst>
      <p:ext uri="{BB962C8B-B14F-4D97-AF65-F5344CB8AC3E}">
        <p14:creationId xmlns:p14="http://schemas.microsoft.com/office/powerpoint/2010/main" val="1379662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846963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5257800"/>
            <a:ext cx="748665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846963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6108590"/>
            <a:ext cx="748665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3E89D1-A86C-4F69-93B0-4D2EAF065D20}"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F57C97-B46C-4A57-8520-F5BBDB84AE72}" type="slidenum">
              <a:rPr lang="en-US" smtClean="0"/>
              <a:pPr/>
              <a:t>‹#›</a:t>
            </a:fld>
            <a:endParaRPr lang="en-US"/>
          </a:p>
        </p:txBody>
      </p:sp>
    </p:spTree>
    <p:extLst>
      <p:ext uri="{BB962C8B-B14F-4D97-AF65-F5344CB8AC3E}">
        <p14:creationId xmlns:p14="http://schemas.microsoft.com/office/powerpoint/2010/main" val="309673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3E89D1-A86C-4F69-93B0-4D2EAF065D20}"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F57C97-B46C-4A57-8520-F5BBDB84AE72}" type="slidenum">
              <a:rPr lang="en-US" smtClean="0"/>
              <a:pPr/>
              <a:t>‹#›</a:t>
            </a:fld>
            <a:endParaRPr lang="en-US"/>
          </a:p>
        </p:txBody>
      </p:sp>
    </p:spTree>
    <p:extLst>
      <p:ext uri="{BB962C8B-B14F-4D97-AF65-F5344CB8AC3E}">
        <p14:creationId xmlns:p14="http://schemas.microsoft.com/office/powerpoint/2010/main" val="3612724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6525" y="381000"/>
            <a:ext cx="1857375"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1500" y="381000"/>
            <a:ext cx="5800725"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3E89D1-A86C-4F69-93B0-4D2EAF065D20}"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F57C97-B46C-4A57-8520-F5BBDB84AE72}" type="slidenum">
              <a:rPr lang="en-US" smtClean="0"/>
              <a:pPr/>
              <a:t>‹#›</a:t>
            </a:fld>
            <a:endParaRPr lang="en-US"/>
          </a:p>
        </p:txBody>
      </p:sp>
    </p:spTree>
    <p:extLst>
      <p:ext uri="{BB962C8B-B14F-4D97-AF65-F5344CB8AC3E}">
        <p14:creationId xmlns:p14="http://schemas.microsoft.com/office/powerpoint/2010/main" val="2466748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8418195" y="0"/>
            <a:ext cx="73152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46404" y="365760"/>
            <a:ext cx="726948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46404" y="1828801"/>
            <a:ext cx="644652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7831456" y="1044178"/>
            <a:ext cx="1904999" cy="273844"/>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563E89D1-A86C-4F69-93B0-4D2EAF065D20}" type="datetimeFigureOut">
              <a:rPr lang="en-US" smtClean="0"/>
              <a:pPr/>
              <a:t>6/17/2026</a:t>
            </a:fld>
            <a:endParaRPr lang="en-US"/>
          </a:p>
        </p:txBody>
      </p:sp>
      <p:sp>
        <p:nvSpPr>
          <p:cNvPr id="5" name="Footer Placeholder 4"/>
          <p:cNvSpPr>
            <a:spLocks noGrp="1"/>
          </p:cNvSpPr>
          <p:nvPr>
            <p:ph type="ftr" sz="quarter" idx="3"/>
          </p:nvPr>
        </p:nvSpPr>
        <p:spPr>
          <a:xfrm rot="16200000">
            <a:off x="6993255" y="4092178"/>
            <a:ext cx="3581400" cy="273844"/>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8441055" y="6172201"/>
            <a:ext cx="685800" cy="593725"/>
          </a:xfrm>
          <a:prstGeom prst="rect">
            <a:avLst/>
          </a:prstGeom>
        </p:spPr>
        <p:txBody>
          <a:bodyPr vert="horz" lIns="27432" tIns="45720" rIns="27432" bIns="45720" rtlCol="0" anchor="ctr">
            <a:normAutofit/>
          </a:bodyPr>
          <a:lstStyle>
            <a:lvl1pPr algn="ctr">
              <a:defRPr sz="3200">
                <a:solidFill>
                  <a:schemeClr val="tx2">
                    <a:lumMod val="60000"/>
                    <a:lumOff val="40000"/>
                  </a:schemeClr>
                </a:solidFill>
              </a:defRPr>
            </a:lvl1pPr>
          </a:lstStyle>
          <a:p>
            <a:fld id="{29F57C97-B46C-4A57-8520-F5BBDB84AE72}" type="slidenum">
              <a:rPr lang="en-US" smtClean="0"/>
              <a:pPr/>
              <a:t>‹#›</a:t>
            </a:fld>
            <a:endParaRPr lang="en-US"/>
          </a:p>
        </p:txBody>
      </p:sp>
    </p:spTree>
    <p:extLst>
      <p:ext uri="{BB962C8B-B14F-4D97-AF65-F5344CB8AC3E}">
        <p14:creationId xmlns:p14="http://schemas.microsoft.com/office/powerpoint/2010/main" val="3858661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0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5" name="TextBox 4"/>
          <p:cNvSpPr txBox="1"/>
          <p:nvPr/>
        </p:nvSpPr>
        <p:spPr>
          <a:xfrm>
            <a:off x="666440" y="298574"/>
            <a:ext cx="8325440" cy="3816429"/>
          </a:xfrm>
          <a:prstGeom prst="rect">
            <a:avLst/>
          </a:prstGeom>
          <a:noFill/>
        </p:spPr>
        <p:txBody>
          <a:bodyPr wrap="square" rtlCol="0">
            <a:spAutoFit/>
          </a:bodyPr>
          <a:lstStyle/>
          <a:p>
            <a:pPr algn="ctr"/>
            <a:endParaRPr lang="en-US" sz="3200" b="1" dirty="0">
              <a:latin typeface="Times New Roman" panose="02020603050405020304" pitchFamily="18" charset="0"/>
              <a:cs typeface="Times New Roman" panose="02020603050405020304" pitchFamily="18" charset="0"/>
            </a:endParaRPr>
          </a:p>
          <a:p>
            <a:pPr algn="ctr"/>
            <a:r>
              <a:rPr lang="en-US" sz="3600" baseline="30000" dirty="0">
                <a:solidFill>
                  <a:srgbClr val="000000"/>
                </a:solidFill>
                <a:latin typeface="Times New Roman" panose="02020603050405020304" pitchFamily="18" charset="0"/>
                <a:cs typeface="Times New Roman" panose="02020603050405020304" pitchFamily="18" charset="0"/>
              </a:rPr>
              <a:t>Project Phase-1 Review</a:t>
            </a:r>
          </a:p>
          <a:p>
            <a:pPr algn="ctr"/>
            <a:r>
              <a:rPr lang="en-US" sz="3600" baseline="30000" dirty="0">
                <a:solidFill>
                  <a:srgbClr val="000000"/>
                </a:solidFill>
                <a:latin typeface="Times New Roman" panose="02020603050405020304" pitchFamily="18" charset="0"/>
                <a:cs typeface="Times New Roman" panose="02020603050405020304" pitchFamily="18" charset="0"/>
              </a:rPr>
              <a:t>On </a:t>
            </a:r>
          </a:p>
          <a:p>
            <a:pPr algn="ctr"/>
            <a:r>
              <a:rPr lang="en-US" sz="2800" b="1" dirty="0">
                <a:latin typeface="Times New Roman" pitchFamily="18" charset="0"/>
                <a:cs typeface="Times New Roman" pitchFamily="18" charset="0"/>
              </a:rPr>
              <a:t> </a:t>
            </a:r>
            <a:r>
              <a:rPr lang="en-US" sz="2800" b="1" dirty="0">
                <a:solidFill>
                  <a:srgbClr val="FF0000"/>
                </a:solidFill>
                <a:latin typeface="Times New Roman" pitchFamily="18" charset="0"/>
                <a:cs typeface="Times New Roman" pitchFamily="18" charset="0"/>
              </a:rPr>
              <a:t>Precision diagnosis by integration of transfer learning  for colorectal polyp detection and classification</a:t>
            </a:r>
            <a:endParaRPr lang="en-IN" sz="2800" b="1" dirty="0">
              <a:solidFill>
                <a:srgbClr val="FF0000"/>
              </a:solidFill>
              <a:latin typeface="Times New Roman" pitchFamily="18" charset="0"/>
              <a:cs typeface="Times New Roman" pitchFamily="18" charset="0"/>
            </a:endParaRPr>
          </a:p>
          <a:p>
            <a:pPr algn="ctr"/>
            <a:r>
              <a:rPr lang="en-US" sz="2800" b="1" dirty="0">
                <a:latin typeface="Times New Roman" panose="02020603050405020304" pitchFamily="18" charset="0"/>
                <a:cs typeface="Times New Roman" panose="02020603050405020304" pitchFamily="18" charset="0"/>
              </a:rPr>
              <a:t> </a:t>
            </a:r>
            <a:endParaRPr lang="en-IN" sz="2800" b="1" dirty="0">
              <a:latin typeface="Times New Roman" panose="02020603050405020304" pitchFamily="18" charset="0"/>
              <a:cs typeface="Times New Roman" panose="02020603050405020304" pitchFamily="18" charset="0"/>
            </a:endParaRPr>
          </a:p>
          <a:p>
            <a:pPr algn="ctr"/>
            <a:endParaRPr lang="en-US" sz="3000" b="1" dirty="0">
              <a:latin typeface="Times New Roman" panose="02020603050405020304" pitchFamily="18" charset="0"/>
              <a:cs typeface="Times New Roman" panose="02020603050405020304" pitchFamily="18" charset="0"/>
            </a:endParaRPr>
          </a:p>
          <a:p>
            <a:pPr algn="ctr"/>
            <a:endParaRPr lang="en-US" sz="20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511803" y="5701339"/>
            <a:ext cx="7010400"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Under the Guidance of: </a:t>
            </a:r>
          </a:p>
          <a:p>
            <a:pPr algn="ctr"/>
            <a:r>
              <a:rPr lang="en-US" dirty="0">
                <a:latin typeface="Times New Roman" panose="02020603050405020304" pitchFamily="18" charset="0"/>
                <a:cs typeface="Times New Roman" panose="02020603050405020304" pitchFamily="18" charset="0"/>
              </a:rPr>
              <a:t>Dr. Zabiha Khan</a:t>
            </a:r>
          </a:p>
          <a:p>
            <a:pPr algn="ctr"/>
            <a:r>
              <a:rPr lang="en-US" dirty="0">
                <a:latin typeface="Times New Roman" panose="02020603050405020304" pitchFamily="18" charset="0"/>
                <a:cs typeface="Times New Roman" panose="02020603050405020304" pitchFamily="18" charset="0"/>
              </a:rPr>
              <a:t>Associate Professor</a:t>
            </a:r>
          </a:p>
        </p:txBody>
      </p:sp>
      <p:sp>
        <p:nvSpPr>
          <p:cNvPr id="7" name="TextBox 6"/>
          <p:cNvSpPr txBox="1"/>
          <p:nvPr/>
        </p:nvSpPr>
        <p:spPr>
          <a:xfrm>
            <a:off x="2428860" y="2714620"/>
            <a:ext cx="4800600" cy="286232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 Presented </a:t>
            </a:r>
          </a:p>
          <a:p>
            <a:pPr algn="ctr"/>
            <a:r>
              <a:rPr lang="en-US" dirty="0">
                <a:latin typeface="Times New Roman" panose="02020603050405020304" pitchFamily="18" charset="0"/>
                <a:cs typeface="Times New Roman" panose="02020603050405020304" pitchFamily="18" charset="0"/>
              </a:rPr>
              <a:t>       By	</a:t>
            </a:r>
          </a:p>
          <a:p>
            <a:pPr algn="ctr"/>
            <a:r>
              <a:rPr lang="en-US" sz="2400" dirty="0">
                <a:solidFill>
                  <a:schemeClr val="accent3"/>
                </a:solidFill>
                <a:latin typeface="Times New Roman" panose="02020603050405020304" pitchFamily="18" charset="0"/>
                <a:cs typeface="Times New Roman" panose="02020603050405020304" pitchFamily="18" charset="0"/>
              </a:rPr>
              <a:t>Dinakar Manupudi        1NT22AI400 </a:t>
            </a:r>
          </a:p>
          <a:p>
            <a:pPr algn="ctr"/>
            <a:r>
              <a:rPr lang="en-US" sz="2400" dirty="0">
                <a:solidFill>
                  <a:schemeClr val="accent3"/>
                </a:solidFill>
                <a:latin typeface="Times New Roman" panose="02020603050405020304" pitchFamily="18" charset="0"/>
                <a:cs typeface="Times New Roman" panose="02020603050405020304" pitchFamily="18" charset="0"/>
              </a:rPr>
              <a:t>Keshav                          1NT21AI032</a:t>
            </a:r>
          </a:p>
          <a:p>
            <a:pPr algn="ctr"/>
            <a:r>
              <a:rPr lang="en-US" sz="2400" dirty="0">
                <a:solidFill>
                  <a:schemeClr val="accent3"/>
                </a:solidFill>
                <a:latin typeface="Times New Roman" panose="02020603050405020304" pitchFamily="18" charset="0"/>
                <a:cs typeface="Times New Roman" panose="02020603050405020304" pitchFamily="18" charset="0"/>
              </a:rPr>
              <a:t>Lahari Y                        1NT21AI034</a:t>
            </a:r>
          </a:p>
          <a:p>
            <a:pPr algn="ctr"/>
            <a:r>
              <a:rPr lang="en-US" sz="2400" dirty="0">
                <a:solidFill>
                  <a:schemeClr val="accent3"/>
                </a:solidFill>
                <a:latin typeface="Times New Roman" panose="02020603050405020304" pitchFamily="18" charset="0"/>
                <a:cs typeface="Times New Roman" panose="02020603050405020304" pitchFamily="18" charset="0"/>
              </a:rPr>
              <a:t>Shreyas                         1NT21AI054 </a:t>
            </a:r>
          </a:p>
          <a:p>
            <a:pPr algn="ct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Bachelor of Engineering (AI&amp;ML)</a:t>
            </a:r>
          </a:p>
        </p:txBody>
      </p:sp>
      <p:pic>
        <p:nvPicPr>
          <p:cNvPr id="9" name="Picture 8">
            <a:extLst>
              <a:ext uri="{FF2B5EF4-FFF2-40B4-BE49-F238E27FC236}">
                <a16:creationId xmlns:a16="http://schemas.microsoft.com/office/drawing/2014/main" id="{5EACD050-F614-48E5-C527-5EDCDD88F98D}"/>
              </a:ext>
            </a:extLst>
          </p:cNvPr>
          <p:cNvPicPr>
            <a:picLocks noChangeAspect="1"/>
          </p:cNvPicPr>
          <p:nvPr/>
        </p:nvPicPr>
        <p:blipFill rotWithShape="1">
          <a:blip r:embed="rId3">
            <a:extLst>
              <a:ext uri="{28A0092B-C50C-407E-A947-70E740481C1C}">
                <a14:useLocalDpi xmlns:a14="http://schemas.microsoft.com/office/drawing/2010/main" val="0"/>
              </a:ext>
            </a:extLst>
          </a:blip>
          <a:srcRect t="3726"/>
          <a:stretch/>
        </p:blipFill>
        <p:spPr>
          <a:xfrm>
            <a:off x="251520" y="188640"/>
            <a:ext cx="1296144" cy="1253420"/>
          </a:xfrm>
          <a:prstGeom prst="rect">
            <a:avLst/>
          </a:prstGeom>
        </p:spPr>
      </p:pic>
    </p:spTree>
    <p:extLst>
      <p:ext uri="{BB962C8B-B14F-4D97-AF65-F5344CB8AC3E}">
        <p14:creationId xmlns:p14="http://schemas.microsoft.com/office/powerpoint/2010/main" val="822740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47664" y="804442"/>
            <a:ext cx="8153400" cy="7478970"/>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Contents </a:t>
            </a:r>
            <a:endParaRPr lang="en-US" sz="32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a:buFont typeface="Wingdings" pitchFamily="2" charset="2"/>
              <a:buChar char="§"/>
            </a:pPr>
            <a:r>
              <a:rPr lang="en-US" sz="2400" dirty="0">
                <a:latin typeface="Times New Roman" panose="02020603050405020304" pitchFamily="18" charset="0"/>
                <a:cs typeface="Times New Roman" panose="02020603050405020304" pitchFamily="18" charset="0"/>
              </a:rPr>
              <a:t> Introduction</a:t>
            </a:r>
          </a:p>
          <a:p>
            <a:pPr>
              <a:buFont typeface="Wingdings" pitchFamily="2" charset="2"/>
              <a:buChar char="§"/>
            </a:pPr>
            <a:r>
              <a:rPr lang="en-US" sz="2400" dirty="0">
                <a:latin typeface="Times New Roman" panose="02020603050405020304" pitchFamily="18" charset="0"/>
                <a:cs typeface="Times New Roman" panose="02020603050405020304" pitchFamily="18" charset="0"/>
              </a:rPr>
              <a:t>Objectives</a:t>
            </a:r>
          </a:p>
          <a:p>
            <a:pPr>
              <a:buFont typeface="Wingdings" pitchFamily="2" charset="2"/>
              <a:buChar char="§"/>
            </a:pPr>
            <a:r>
              <a:rPr lang="en-US" sz="2400" dirty="0">
                <a:latin typeface="Times New Roman" panose="02020603050405020304" pitchFamily="18" charset="0"/>
                <a:cs typeface="Times New Roman" panose="02020603050405020304" pitchFamily="18" charset="0"/>
              </a:rPr>
              <a:t> Literature Survey</a:t>
            </a:r>
          </a:p>
          <a:p>
            <a:pPr>
              <a:buFont typeface="Wingdings" pitchFamily="2" charset="2"/>
              <a:buChar char="§"/>
            </a:pPr>
            <a:r>
              <a:rPr lang="en-US" sz="2400" dirty="0">
                <a:latin typeface="Times New Roman" panose="02020603050405020304" pitchFamily="18" charset="0"/>
                <a:cs typeface="Times New Roman" panose="02020603050405020304" pitchFamily="18" charset="0"/>
              </a:rPr>
              <a:t> Problem Statement</a:t>
            </a:r>
          </a:p>
          <a:p>
            <a:pPr>
              <a:buFont typeface="Wingdings" pitchFamily="2" charset="2"/>
              <a:buChar char="§"/>
            </a:pPr>
            <a:r>
              <a:rPr lang="en-US" sz="2400" dirty="0">
                <a:latin typeface="Times New Roman" panose="02020603050405020304" pitchFamily="18" charset="0"/>
                <a:cs typeface="Times New Roman" panose="02020603050405020304" pitchFamily="18" charset="0"/>
              </a:rPr>
              <a:t>Existing System</a:t>
            </a:r>
          </a:p>
          <a:p>
            <a:pPr>
              <a:buFont typeface="Wingdings" pitchFamily="2" charset="2"/>
              <a:buChar char="§"/>
            </a:pPr>
            <a:r>
              <a:rPr lang="en-US" sz="2400" dirty="0">
                <a:latin typeface="Times New Roman" panose="02020603050405020304" pitchFamily="18" charset="0"/>
                <a:cs typeface="Times New Roman" panose="02020603050405020304" pitchFamily="18" charset="0"/>
              </a:rPr>
              <a:t> Proposed system</a:t>
            </a:r>
          </a:p>
          <a:p>
            <a:pPr>
              <a:buFont typeface="Wingdings" pitchFamily="2" charset="2"/>
              <a:buChar char="§"/>
            </a:pPr>
            <a:r>
              <a:rPr lang="en-US" sz="2400" dirty="0">
                <a:latin typeface="Times New Roman" panose="02020603050405020304" pitchFamily="18" charset="0"/>
                <a:cs typeface="Times New Roman" panose="02020603050405020304" pitchFamily="18" charset="0"/>
              </a:rPr>
              <a:t> Methodology </a:t>
            </a:r>
          </a:p>
          <a:p>
            <a:pPr>
              <a:buFont typeface="Wingdings" pitchFamily="2" charset="2"/>
              <a:buChar char="§"/>
            </a:pPr>
            <a:r>
              <a:rPr lang="en-US" sz="2400" dirty="0">
                <a:latin typeface="Times New Roman" panose="02020603050405020304" pitchFamily="18" charset="0"/>
                <a:cs typeface="Times New Roman" panose="02020603050405020304" pitchFamily="18" charset="0"/>
              </a:rPr>
              <a:t>Implementation</a:t>
            </a:r>
          </a:p>
          <a:p>
            <a:pPr>
              <a:buFont typeface="Wingdings" pitchFamily="2" charset="2"/>
              <a:buChar char="§"/>
            </a:pPr>
            <a:r>
              <a:rPr lang="en-US" sz="2400" dirty="0">
                <a:latin typeface="Times New Roman" panose="02020603050405020304" pitchFamily="18" charset="0"/>
                <a:cs typeface="Times New Roman" panose="02020603050405020304" pitchFamily="18" charset="0"/>
              </a:rPr>
              <a:t>Results and Discussion</a:t>
            </a:r>
          </a:p>
          <a:p>
            <a:pPr>
              <a:buFont typeface="Wingdings" pitchFamily="2" charset="2"/>
              <a:buChar char="§"/>
            </a:pPr>
            <a:r>
              <a:rPr lang="en-US" sz="2400" dirty="0">
                <a:latin typeface="Times New Roman" panose="02020603050405020304" pitchFamily="18" charset="0"/>
                <a:cs typeface="Times New Roman" panose="02020603050405020304" pitchFamily="18" charset="0"/>
              </a:rPr>
              <a:t>Conclusion</a:t>
            </a:r>
          </a:p>
          <a:p>
            <a:pPr>
              <a:buFont typeface="Wingdings" pitchFamily="2" charset="2"/>
              <a:buChar char="§"/>
            </a:pPr>
            <a:r>
              <a:rPr lang="en-US" sz="2400" dirty="0">
                <a:latin typeface="Times New Roman" panose="02020603050405020304" pitchFamily="18" charset="0"/>
                <a:cs typeface="Times New Roman" panose="02020603050405020304" pitchFamily="18" charset="0"/>
              </a:rPr>
              <a:t>References</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a:buFont typeface="Wingdings" pitchFamily="2" charset="2"/>
              <a:buChar char="§"/>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AC807FA4-A7D0-BC4A-7EDE-530ABEC789DD}"/>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251520" y="188640"/>
            <a:ext cx="1296144" cy="1253420"/>
          </a:xfrm>
          <a:prstGeom prst="rect">
            <a:avLst/>
          </a:prstGeom>
        </p:spPr>
      </p:pic>
    </p:spTree>
    <p:extLst>
      <p:ext uri="{BB962C8B-B14F-4D97-AF65-F5344CB8AC3E}">
        <p14:creationId xmlns:p14="http://schemas.microsoft.com/office/powerpoint/2010/main" val="637269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23528" y="804442"/>
            <a:ext cx="8712968" cy="729430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              Introduction</a:t>
            </a:r>
            <a:endParaRPr lang="en-US" sz="32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endParaRPr lang="en-US" sz="4800"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i="0" u="none" strike="noStrike" baseline="0" dirty="0">
                <a:latin typeface="Times New Roman" panose="02020603050405020304" pitchFamily="18" charset="0"/>
                <a:cs typeface="Times New Roman" panose="02020603050405020304" pitchFamily="18" charset="0"/>
              </a:rPr>
              <a:t>Colorectal cancer is a major health issue, being the third most common cancer worldwide.</a:t>
            </a:r>
            <a:r>
              <a:rPr lang="en-US" sz="1600" dirty="0">
                <a:latin typeface="Times New Roman" panose="02020603050405020304" pitchFamily="18" charset="0"/>
                <a:cs typeface="Times New Roman" panose="02020603050405020304" pitchFamily="18" charset="0"/>
              </a:rPr>
              <a:t> </a:t>
            </a:r>
            <a:r>
              <a:rPr lang="en-IN" sz="1600" b="0" i="0" u="none" strike="noStrike" baseline="0" dirty="0">
                <a:latin typeface="Times New Roman" panose="02020603050405020304" pitchFamily="18" charset="0"/>
                <a:cs typeface="Times New Roman" panose="02020603050405020304" pitchFamily="18" charset="0"/>
              </a:rPr>
              <a:t>Colorectal cancer is a disease in which cells in th</a:t>
            </a:r>
            <a:r>
              <a:rPr lang="en-IN" sz="1600" dirty="0">
                <a:latin typeface="Times New Roman" panose="02020603050405020304" pitchFamily="18" charset="0"/>
                <a:cs typeface="Times New Roman" panose="02020603050405020304" pitchFamily="18" charset="0"/>
              </a:rPr>
              <a:t>e colon or rectum grow out of control.</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Polyps are the abnormal growth of tissues that look like tiny mushroom stalks and are most prevalent in the colon. Polyps are benign or harmless but can become malignant if not detected in early stage. </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It is common for polyps to be overlooked during a colonoscopy procedure due to their small size and visual characteristics often leading to missed diagnoses or misclassifications. </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i="0" u="none" strike="noStrike" baseline="0" dirty="0">
                <a:latin typeface="Times New Roman" panose="02020603050405020304" pitchFamily="18" charset="0"/>
                <a:cs typeface="Times New Roman" panose="02020603050405020304" pitchFamily="18" charset="0"/>
              </a:rPr>
              <a:t>Detecting polyps early can prevent the progression to colorectal cancer, but traditional colonoscopy methods can be prone to human error.</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i="0" u="none" strike="noStrike" baseline="0" dirty="0">
                <a:latin typeface="Times New Roman" panose="02020603050405020304" pitchFamily="18" charset="0"/>
                <a:cs typeface="Times New Roman" panose="02020603050405020304" pitchFamily="18" charset="0"/>
              </a:rPr>
              <a:t>Current methods can miss small or hidden polyps, leading to missed diagnoses, highlighting the need for more advanced solutions.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0" i="0" u="none" strike="noStrike" baseline="0" dirty="0">
                <a:latin typeface="Times New Roman" panose="02020603050405020304" pitchFamily="18" charset="0"/>
                <a:cs typeface="Times New Roman" panose="02020603050405020304" pitchFamily="18" charset="0"/>
              </a:rPr>
              <a:t>AI and medical imaging advancements offer a more accurate and reliable way to detect polyps, reducing errors in manual procedures.</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a:buFont typeface="Wingdings" pitchFamily="2" charset="2"/>
              <a:buChar char="§"/>
            </a:pP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AC807FA4-A7D0-BC4A-7EDE-530ABEC789DD}"/>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0" y="0"/>
            <a:ext cx="1296144" cy="1253420"/>
          </a:xfrm>
          <a:prstGeom prst="rect">
            <a:avLst/>
          </a:prstGeom>
        </p:spPr>
      </p:pic>
    </p:spTree>
    <p:extLst>
      <p:ext uri="{BB962C8B-B14F-4D97-AF65-F5344CB8AC3E}">
        <p14:creationId xmlns:p14="http://schemas.microsoft.com/office/powerpoint/2010/main" val="832136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17AF4-B605-021C-3AB0-C8F7C871F9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23BF2C8-8D68-1346-00BC-7C091539EDA3}"/>
              </a:ext>
            </a:extLst>
          </p:cNvPr>
          <p:cNvSpPr txBox="1"/>
          <p:nvPr/>
        </p:nvSpPr>
        <p:spPr>
          <a:xfrm>
            <a:off x="323528" y="804442"/>
            <a:ext cx="8712968" cy="3108543"/>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Phases of growth of polyp into colorectal cancer</a:t>
            </a:r>
          </a:p>
          <a:p>
            <a:endParaRPr lang="en-US" sz="32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a:buFont typeface="Wingdings" pitchFamily="2" charset="2"/>
              <a:buChar char="§"/>
            </a:pP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9277808A-4D28-CD04-7217-485D78557363}"/>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0" y="0"/>
            <a:ext cx="1296144" cy="1253420"/>
          </a:xfrm>
          <a:prstGeom prst="rect">
            <a:avLst/>
          </a:prstGeom>
        </p:spPr>
      </p:pic>
      <p:pic>
        <p:nvPicPr>
          <p:cNvPr id="3" name="Picture 2">
            <a:extLst>
              <a:ext uri="{FF2B5EF4-FFF2-40B4-BE49-F238E27FC236}">
                <a16:creationId xmlns:a16="http://schemas.microsoft.com/office/drawing/2014/main" id="{9F91E307-D423-09BA-5C50-B29B245A1C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68" y="1594009"/>
            <a:ext cx="8136904" cy="3669981"/>
          </a:xfrm>
          <a:prstGeom prst="rect">
            <a:avLst/>
          </a:prstGeom>
        </p:spPr>
      </p:pic>
    </p:spTree>
    <p:extLst>
      <p:ext uri="{BB962C8B-B14F-4D97-AF65-F5344CB8AC3E}">
        <p14:creationId xmlns:p14="http://schemas.microsoft.com/office/powerpoint/2010/main" val="1580455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F8654-0291-B7A1-555B-BB1B390789A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6B1B235-7D7A-FC18-3086-85708959262D}"/>
              </a:ext>
            </a:extLst>
          </p:cNvPr>
          <p:cNvSpPr txBox="1"/>
          <p:nvPr/>
        </p:nvSpPr>
        <p:spPr>
          <a:xfrm>
            <a:off x="323528" y="804442"/>
            <a:ext cx="8712968" cy="452431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Objectives</a:t>
            </a:r>
          </a:p>
          <a:p>
            <a:endParaRPr lang="en-US" sz="24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develop an AI-based system for accurate detection and classification of colorectal polyps.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support early diagnosis of colorectal cancer and reduce manual diagnostic errors.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enable real-time detection for integration with endoscopic tools.</a:t>
            </a:r>
          </a:p>
          <a:p>
            <a:endParaRPr lang="en-US" sz="24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a:buFont typeface="Wingdings" pitchFamily="2" charset="2"/>
              <a:buChar char="§"/>
            </a:pP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CDC1EAA8-FDEB-A91D-B253-5522CADF0401}"/>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0" y="0"/>
            <a:ext cx="1296144" cy="1253420"/>
          </a:xfrm>
          <a:prstGeom prst="rect">
            <a:avLst/>
          </a:prstGeom>
        </p:spPr>
      </p:pic>
    </p:spTree>
    <p:extLst>
      <p:ext uri="{BB962C8B-B14F-4D97-AF65-F5344CB8AC3E}">
        <p14:creationId xmlns:p14="http://schemas.microsoft.com/office/powerpoint/2010/main" val="691566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EE88F-1CB6-2CAC-A540-0E5BCB0DBFF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719F5C7-4A9E-23B6-B6C9-8E7F68C00E7D}"/>
              </a:ext>
            </a:extLst>
          </p:cNvPr>
          <p:cNvSpPr txBox="1"/>
          <p:nvPr/>
        </p:nvSpPr>
        <p:spPr>
          <a:xfrm>
            <a:off x="107504" y="116632"/>
            <a:ext cx="9036496" cy="255454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                    Literature Survey</a:t>
            </a:r>
          </a:p>
          <a:p>
            <a:endParaRPr lang="en-US" sz="3200" b="1" dirty="0">
              <a:latin typeface="Times New Roman" panose="02020603050405020304" pitchFamily="18" charset="0"/>
              <a:cs typeface="Times New Roman" panose="02020603050405020304" pitchFamily="18" charset="0"/>
            </a:endParaRPr>
          </a:p>
          <a:p>
            <a:endParaRPr lang="en-US" sz="3200" b="1"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CCF41F7D-42B0-4C2C-6734-2D9CFA4854A4}"/>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0" y="8280"/>
            <a:ext cx="1296144" cy="1253420"/>
          </a:xfrm>
          <a:prstGeom prst="rect">
            <a:avLst/>
          </a:prstGeom>
        </p:spPr>
      </p:pic>
      <p:graphicFrame>
        <p:nvGraphicFramePr>
          <p:cNvPr id="3" name="Table 2">
            <a:extLst>
              <a:ext uri="{FF2B5EF4-FFF2-40B4-BE49-F238E27FC236}">
                <a16:creationId xmlns:a16="http://schemas.microsoft.com/office/drawing/2014/main" id="{43D99C21-2DA4-41C3-EDFD-C7B680E1E505}"/>
              </a:ext>
            </a:extLst>
          </p:cNvPr>
          <p:cNvGraphicFramePr>
            <a:graphicFrameLocks noGrp="1"/>
          </p:cNvGraphicFramePr>
          <p:nvPr>
            <p:extLst>
              <p:ext uri="{D42A27DB-BD31-4B8C-83A1-F6EECF244321}">
                <p14:modId xmlns:p14="http://schemas.microsoft.com/office/powerpoint/2010/main" val="822827719"/>
              </p:ext>
            </p:extLst>
          </p:nvPr>
        </p:nvGraphicFramePr>
        <p:xfrm>
          <a:off x="251520" y="946408"/>
          <a:ext cx="8892479" cy="5757857"/>
        </p:xfrm>
        <a:graphic>
          <a:graphicData uri="http://schemas.openxmlformats.org/drawingml/2006/table">
            <a:tbl>
              <a:tblPr firstRow="1" bandRow="1">
                <a:tableStyleId>{5C22544A-7EE6-4342-B048-85BDC9FD1C3A}</a:tableStyleId>
              </a:tblPr>
              <a:tblGrid>
                <a:gridCol w="1346348">
                  <a:extLst>
                    <a:ext uri="{9D8B030D-6E8A-4147-A177-3AD203B41FA5}">
                      <a16:colId xmlns:a16="http://schemas.microsoft.com/office/drawing/2014/main" val="3995982198"/>
                    </a:ext>
                  </a:extLst>
                </a:gridCol>
                <a:gridCol w="1275487">
                  <a:extLst>
                    <a:ext uri="{9D8B030D-6E8A-4147-A177-3AD203B41FA5}">
                      <a16:colId xmlns:a16="http://schemas.microsoft.com/office/drawing/2014/main" val="2999815291"/>
                    </a:ext>
                  </a:extLst>
                </a:gridCol>
                <a:gridCol w="3188718">
                  <a:extLst>
                    <a:ext uri="{9D8B030D-6E8A-4147-A177-3AD203B41FA5}">
                      <a16:colId xmlns:a16="http://schemas.microsoft.com/office/drawing/2014/main" val="896956383"/>
                    </a:ext>
                  </a:extLst>
                </a:gridCol>
                <a:gridCol w="1629789">
                  <a:extLst>
                    <a:ext uri="{9D8B030D-6E8A-4147-A177-3AD203B41FA5}">
                      <a16:colId xmlns:a16="http://schemas.microsoft.com/office/drawing/2014/main" val="234440122"/>
                    </a:ext>
                  </a:extLst>
                </a:gridCol>
                <a:gridCol w="1452137">
                  <a:extLst>
                    <a:ext uri="{9D8B030D-6E8A-4147-A177-3AD203B41FA5}">
                      <a16:colId xmlns:a16="http://schemas.microsoft.com/office/drawing/2014/main" val="1741078269"/>
                    </a:ext>
                  </a:extLst>
                </a:gridCol>
              </a:tblGrid>
              <a:tr h="608511">
                <a:tc>
                  <a:txBody>
                    <a:bodyPr/>
                    <a:lstStyle/>
                    <a:p>
                      <a:r>
                        <a:rPr lang="en-IN" dirty="0"/>
                        <a:t>Title </a:t>
                      </a:r>
                    </a:p>
                  </a:txBody>
                  <a:tcPr/>
                </a:tc>
                <a:tc>
                  <a:txBody>
                    <a:bodyPr/>
                    <a:lstStyle/>
                    <a:p>
                      <a:r>
                        <a:rPr lang="en-IN" dirty="0"/>
                        <a:t>Author</a:t>
                      </a:r>
                    </a:p>
                  </a:txBody>
                  <a:tcPr/>
                </a:tc>
                <a:tc>
                  <a:txBody>
                    <a:bodyPr/>
                    <a:lstStyle/>
                    <a:p>
                      <a:r>
                        <a:rPr lang="en-IN" dirty="0"/>
                        <a:t>Summary</a:t>
                      </a:r>
                    </a:p>
                  </a:txBody>
                  <a:tcPr/>
                </a:tc>
                <a:tc>
                  <a:txBody>
                    <a:bodyPr/>
                    <a:lstStyle/>
                    <a:p>
                      <a:r>
                        <a:rPr lang="en-IN" dirty="0"/>
                        <a:t>Methodology</a:t>
                      </a:r>
                    </a:p>
                  </a:txBody>
                  <a:tcPr/>
                </a:tc>
                <a:tc>
                  <a:txBody>
                    <a:bodyPr/>
                    <a:lstStyle/>
                    <a:p>
                      <a:r>
                        <a:rPr lang="en-IN" dirty="0"/>
                        <a:t>Research Gap</a:t>
                      </a:r>
                    </a:p>
                  </a:txBody>
                  <a:tcPr/>
                </a:tc>
                <a:extLst>
                  <a:ext uri="{0D108BD9-81ED-4DB2-BD59-A6C34878D82A}">
                    <a16:rowId xmlns:a16="http://schemas.microsoft.com/office/drawing/2014/main" val="3991949283"/>
                  </a:ext>
                </a:extLst>
              </a:tr>
              <a:tr h="1582097">
                <a:tc>
                  <a:txBody>
                    <a:bodyPr/>
                    <a:lstStyle/>
                    <a:p>
                      <a:r>
                        <a:rPr lang="en-US" sz="1100" dirty="0">
                          <a:latin typeface="Times New Roman" panose="02020603050405020304" pitchFamily="18" charset="0"/>
                          <a:cs typeface="Times New Roman" panose="02020603050405020304" pitchFamily="18" charset="0"/>
                        </a:rPr>
                        <a:t>Colorectal polyp detection and Comparative evaluation based on deep learning approaches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i="0" u="none" strike="noStrike" kern="1200" baseline="0" dirty="0">
                          <a:solidFill>
                            <a:schemeClr val="dk1"/>
                          </a:solidFill>
                          <a:latin typeface="Times New Roman" panose="02020603050405020304" pitchFamily="18" charset="0"/>
                          <a:ea typeface="+mn-ea"/>
                          <a:cs typeface="Times New Roman" panose="02020603050405020304" pitchFamily="18" charset="0"/>
                        </a:rPr>
                        <a:t>YAO-TIEN CHEN AND NISAR AHMAD</a:t>
                      </a:r>
                      <a:endParaRPr lang="en-IN" sz="1100" dirty="0">
                        <a:latin typeface="Times New Roman" panose="02020603050405020304" pitchFamily="18" charset="0"/>
                        <a:cs typeface="Times New Roman" panose="02020603050405020304" pitchFamily="18" charset="0"/>
                      </a:endParaRPr>
                    </a:p>
                  </a:txBody>
                  <a:tcPr/>
                </a:tc>
                <a:tc>
                  <a:txBody>
                    <a:bodyPr/>
                    <a:lstStyle/>
                    <a:p>
                      <a:pPr marL="0" indent="0" algn="just">
                        <a:buFont typeface="Arial" panose="020B0604020202020204" pitchFamily="34" charset="0"/>
                        <a:buNone/>
                      </a:pPr>
                      <a:r>
                        <a:rPr lang="en-US" sz="1100" dirty="0">
                          <a:latin typeface="Times New Roman" panose="02020603050405020304" pitchFamily="18" charset="0"/>
                          <a:cs typeface="Times New Roman" panose="02020603050405020304" pitchFamily="18" charset="0"/>
                        </a:rPr>
                        <a:t>YOLOV4 is a high-performing object detection model, notably efficient for colorectal polyp detection. This architecture allows YOLOV4 to achieve high accuracy, especially in detecting adenomatous and hyperplastic polyps with enhanced confidence scores YOLOv4 achieved the highest accuracy in detecting and classifying polyps, showing promising results for medical applications.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i="0" u="none" strike="noStrike" kern="1200" baseline="0" dirty="0">
                          <a:solidFill>
                            <a:schemeClr val="dk1"/>
                          </a:solidFill>
                          <a:latin typeface="Times New Roman" panose="02020603050405020304" pitchFamily="18" charset="0"/>
                          <a:ea typeface="+mn-ea"/>
                          <a:cs typeface="Times New Roman" panose="02020603050405020304" pitchFamily="18" charset="0"/>
                        </a:rPr>
                        <a:t>Faster RCNN</a:t>
                      </a:r>
                    </a:p>
                    <a:p>
                      <a:r>
                        <a:rPr lang="en-IN" sz="1100" b="0" i="0" u="none" strike="noStrike" kern="1200" baseline="0" dirty="0">
                          <a:solidFill>
                            <a:schemeClr val="dk1"/>
                          </a:solidFill>
                          <a:latin typeface="Times New Roman" panose="02020603050405020304" pitchFamily="18" charset="0"/>
                          <a:ea typeface="+mn-ea"/>
                          <a:cs typeface="Times New Roman" panose="02020603050405020304" pitchFamily="18" charset="0"/>
                        </a:rPr>
                        <a:t>SSD</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Enhancing the detection of smaller and less distinguishable polyps and expanding the dataset to include more diverse cases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82897911"/>
                  </a:ext>
                </a:extLst>
              </a:tr>
              <a:tr h="1840020">
                <a:tc>
                  <a:txBody>
                    <a:bodyPr/>
                    <a:lstStyle/>
                    <a:p>
                      <a:r>
                        <a:rPr lang="en-US" sz="1100" dirty="0">
                          <a:latin typeface="Times New Roman" panose="02020603050405020304" pitchFamily="18" charset="0"/>
                          <a:cs typeface="Times New Roman" panose="02020603050405020304" pitchFamily="18" charset="0"/>
                        </a:rPr>
                        <a:t>Deep Poly: Deep Learning-Based Polyps Segmentation and Classification for Autonomous Colonoscopy Examination</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i="0" u="none" strike="noStrike" kern="1200" baseline="0" dirty="0">
                          <a:solidFill>
                            <a:schemeClr val="dk1"/>
                          </a:solidFill>
                          <a:latin typeface="Times New Roman" panose="02020603050405020304" pitchFamily="18" charset="0"/>
                          <a:ea typeface="+mn-ea"/>
                          <a:cs typeface="Times New Roman" panose="02020603050405020304" pitchFamily="18" charset="0"/>
                        </a:rPr>
                        <a:t>MD SHAKHAWAT HOSSAIN 1,2, (Member, IEEE), MD. MAHMUDUR RAHMAN3</a:t>
                      </a:r>
                      <a:endParaRPr lang="en-IN" sz="1100" dirty="0">
                        <a:latin typeface="Times New Roman" panose="02020603050405020304" pitchFamily="18" charset="0"/>
                        <a:cs typeface="Times New Roman" panose="02020603050405020304" pitchFamily="18" charset="0"/>
                      </a:endParaRPr>
                    </a:p>
                  </a:txBody>
                  <a:tcPr/>
                </a:tc>
                <a:tc>
                  <a:txBody>
                    <a:bodyPr/>
                    <a:lstStyle/>
                    <a:p>
                      <a:pPr algn="just"/>
                      <a:r>
                        <a:rPr lang="en-US" sz="1100" dirty="0">
                          <a:latin typeface="Times New Roman" panose="02020603050405020304" pitchFamily="18" charset="0"/>
                          <a:cs typeface="Times New Roman" panose="02020603050405020304" pitchFamily="18" charset="0"/>
                        </a:rPr>
                        <a:t>The proposed method focused on detecting polyps and their potential threats It uses vit for segmenting polyps and for classifying them based on risks. It outperformed other segmentation methods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Vit model</a:t>
                      </a:r>
                    </a:p>
                  </a:txBody>
                  <a:tcPr/>
                </a:tc>
                <a:tc>
                  <a:txBody>
                    <a:bodyPr/>
                    <a:lstStyle/>
                    <a:p>
                      <a:r>
                        <a:rPr lang="en-US" sz="1100" dirty="0">
                          <a:latin typeface="Times New Roman" panose="02020603050405020304" pitchFamily="18" charset="0"/>
                          <a:cs typeface="Times New Roman" panose="02020603050405020304" pitchFamily="18" charset="0"/>
                        </a:rPr>
                        <a:t>Focus on enhancing the classification accuracy for polyps of various sizes and types. The model has to work with other endoscopy images, such as those from gastroscopy, and testing it in diverse environments.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85266444"/>
                  </a:ext>
                </a:extLst>
              </a:tr>
              <a:tr h="1521276">
                <a:tc>
                  <a:txBody>
                    <a:bodyPr/>
                    <a:lstStyle/>
                    <a:p>
                      <a:r>
                        <a:rPr lang="en-US" sz="1100" dirty="0">
                          <a:latin typeface="Times New Roman" panose="02020603050405020304" pitchFamily="18" charset="0"/>
                          <a:cs typeface="Times New Roman" panose="02020603050405020304" pitchFamily="18" charset="0"/>
                        </a:rPr>
                        <a:t>Colonic Polyp Detection in Endoscopic Videos With Single Shot Detection Based Deep Convolutional Neural Network</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i="0" u="none" strike="noStrike" kern="1200" baseline="0" dirty="0">
                          <a:solidFill>
                            <a:schemeClr val="dk1"/>
                          </a:solidFill>
                          <a:latin typeface="Times New Roman" panose="02020603050405020304" pitchFamily="18" charset="0"/>
                          <a:ea typeface="+mn-ea"/>
                          <a:cs typeface="Times New Roman" panose="02020603050405020304" pitchFamily="18" charset="0"/>
                        </a:rPr>
                        <a:t>MING LIU1, JUE JIANG2, AND ZENAN WANG 3</a:t>
                      </a:r>
                      <a:endParaRPr lang="en-IN" sz="1100" dirty="0">
                        <a:latin typeface="Times New Roman" panose="02020603050405020304" pitchFamily="18" charset="0"/>
                        <a:cs typeface="Times New Roman" panose="02020603050405020304" pitchFamily="18" charset="0"/>
                      </a:endParaRPr>
                    </a:p>
                  </a:txBody>
                  <a:tcPr/>
                </a:tc>
                <a:tc>
                  <a:txBody>
                    <a:bodyPr/>
                    <a:lstStyle/>
                    <a:p>
                      <a:pPr algn="just"/>
                      <a:r>
                        <a:rPr lang="en-US" sz="1100" dirty="0">
                          <a:latin typeface="Times New Roman" panose="02020603050405020304" pitchFamily="18" charset="0"/>
                          <a:cs typeface="Times New Roman" panose="02020603050405020304" pitchFamily="18" charset="0"/>
                        </a:rPr>
                        <a:t>The paper addresses the challenge of detecting colonic polyps in endoscopic videos utilizing a Single Shot Detector (SSD) framework The proposed SSD method achieved high detection accuracy, outperforming other methods in detection speed and yielding competitive results in precision and recall, particularly with the Inception V3 model. This method offers a real-time, efficient solution for polyp detection. potentially enhancing CRC diagnostics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Inceptionv3</a:t>
                      </a:r>
                    </a:p>
                  </a:txBody>
                  <a:tcPr/>
                </a:tc>
                <a:tc>
                  <a:txBody>
                    <a:bodyPr/>
                    <a:lstStyle/>
                    <a:p>
                      <a:r>
                        <a:rPr lang="en-US" sz="1100" dirty="0">
                          <a:latin typeface="Times New Roman" panose="02020603050405020304" pitchFamily="18" charset="0"/>
                          <a:cs typeface="Times New Roman" panose="02020603050405020304" pitchFamily="18" charset="0"/>
                        </a:rPr>
                        <a:t>Expanding the dataset with more varied clinical cases, particularly those that present challenges like small or flat polyps, is essential</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81952572"/>
                  </a:ext>
                </a:extLst>
              </a:tr>
            </a:tbl>
          </a:graphicData>
        </a:graphic>
      </p:graphicFrame>
    </p:spTree>
    <p:extLst>
      <p:ext uri="{BB962C8B-B14F-4D97-AF65-F5344CB8AC3E}">
        <p14:creationId xmlns:p14="http://schemas.microsoft.com/office/powerpoint/2010/main" val="1355540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D0CB6-2298-F272-2559-770239297C5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BA8A840-DB48-FDC1-EE9A-3AD7018F159D}"/>
              </a:ext>
            </a:extLst>
          </p:cNvPr>
          <p:cNvSpPr txBox="1"/>
          <p:nvPr/>
        </p:nvSpPr>
        <p:spPr>
          <a:xfrm>
            <a:off x="107504" y="116632"/>
            <a:ext cx="9036496" cy="304698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                    Literature Survey</a:t>
            </a:r>
          </a:p>
          <a:p>
            <a:endParaRPr lang="en-US" sz="3200" b="1"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    </a:t>
            </a:r>
          </a:p>
          <a:p>
            <a:r>
              <a:rPr lang="en-US" sz="3200" b="1" dirty="0">
                <a:latin typeface="Times New Roman" panose="02020603050405020304" pitchFamily="18" charset="0"/>
                <a:cs typeface="Times New Roman" panose="02020603050405020304" pitchFamily="18" charset="0"/>
              </a:rPr>
              <a:t>    </a:t>
            </a:r>
          </a:p>
          <a:p>
            <a:r>
              <a:rPr lang="en-US" sz="32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BF04D601-3C42-1472-3EA8-42030BC648A5}"/>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0" y="8280"/>
            <a:ext cx="1296144" cy="1253420"/>
          </a:xfrm>
          <a:prstGeom prst="rect">
            <a:avLst/>
          </a:prstGeom>
        </p:spPr>
      </p:pic>
      <p:graphicFrame>
        <p:nvGraphicFramePr>
          <p:cNvPr id="2" name="Table 1">
            <a:extLst>
              <a:ext uri="{FF2B5EF4-FFF2-40B4-BE49-F238E27FC236}">
                <a16:creationId xmlns:a16="http://schemas.microsoft.com/office/drawing/2014/main" id="{DCA150C6-41E2-D279-FCE7-5D37531D75A4}"/>
              </a:ext>
            </a:extLst>
          </p:cNvPr>
          <p:cNvGraphicFramePr>
            <a:graphicFrameLocks noGrp="1"/>
          </p:cNvGraphicFramePr>
          <p:nvPr>
            <p:extLst>
              <p:ext uri="{D42A27DB-BD31-4B8C-83A1-F6EECF244321}">
                <p14:modId xmlns:p14="http://schemas.microsoft.com/office/powerpoint/2010/main" val="2624069974"/>
              </p:ext>
            </p:extLst>
          </p:nvPr>
        </p:nvGraphicFramePr>
        <p:xfrm>
          <a:off x="467544" y="1397000"/>
          <a:ext cx="8676455" cy="4846320"/>
        </p:xfrm>
        <a:graphic>
          <a:graphicData uri="http://schemas.openxmlformats.org/drawingml/2006/table">
            <a:tbl>
              <a:tblPr firstRow="1" bandRow="1">
                <a:tableStyleId>{5C22544A-7EE6-4342-B048-85BDC9FD1C3A}</a:tableStyleId>
              </a:tblPr>
              <a:tblGrid>
                <a:gridCol w="1735291">
                  <a:extLst>
                    <a:ext uri="{9D8B030D-6E8A-4147-A177-3AD203B41FA5}">
                      <a16:colId xmlns:a16="http://schemas.microsoft.com/office/drawing/2014/main" val="2113825494"/>
                    </a:ext>
                  </a:extLst>
                </a:gridCol>
                <a:gridCol w="1735291">
                  <a:extLst>
                    <a:ext uri="{9D8B030D-6E8A-4147-A177-3AD203B41FA5}">
                      <a16:colId xmlns:a16="http://schemas.microsoft.com/office/drawing/2014/main" val="4228308143"/>
                    </a:ext>
                  </a:extLst>
                </a:gridCol>
                <a:gridCol w="1735291">
                  <a:extLst>
                    <a:ext uri="{9D8B030D-6E8A-4147-A177-3AD203B41FA5}">
                      <a16:colId xmlns:a16="http://schemas.microsoft.com/office/drawing/2014/main" val="3631751612"/>
                    </a:ext>
                  </a:extLst>
                </a:gridCol>
                <a:gridCol w="1735291">
                  <a:extLst>
                    <a:ext uri="{9D8B030D-6E8A-4147-A177-3AD203B41FA5}">
                      <a16:colId xmlns:a16="http://schemas.microsoft.com/office/drawing/2014/main" val="1045009315"/>
                    </a:ext>
                  </a:extLst>
                </a:gridCol>
                <a:gridCol w="1735291">
                  <a:extLst>
                    <a:ext uri="{9D8B030D-6E8A-4147-A177-3AD203B41FA5}">
                      <a16:colId xmlns:a16="http://schemas.microsoft.com/office/drawing/2014/main" val="588708433"/>
                    </a:ext>
                  </a:extLst>
                </a:gridCol>
              </a:tblGrid>
              <a:tr h="618975">
                <a:tc>
                  <a:txBody>
                    <a:bodyPr/>
                    <a:lstStyle/>
                    <a:p>
                      <a:r>
                        <a:rPr lang="en-IN" dirty="0"/>
                        <a:t>Title</a:t>
                      </a:r>
                    </a:p>
                  </a:txBody>
                  <a:tcPr/>
                </a:tc>
                <a:tc>
                  <a:txBody>
                    <a:bodyPr/>
                    <a:lstStyle/>
                    <a:p>
                      <a:r>
                        <a:rPr lang="en-IN" dirty="0"/>
                        <a:t>Author</a:t>
                      </a:r>
                    </a:p>
                  </a:txBody>
                  <a:tcPr/>
                </a:tc>
                <a:tc>
                  <a:txBody>
                    <a:bodyPr/>
                    <a:lstStyle/>
                    <a:p>
                      <a:r>
                        <a:rPr lang="en-IN" dirty="0"/>
                        <a:t>Summary</a:t>
                      </a:r>
                    </a:p>
                  </a:txBody>
                  <a:tcPr/>
                </a:tc>
                <a:tc>
                  <a:txBody>
                    <a:bodyPr/>
                    <a:lstStyle/>
                    <a:p>
                      <a:r>
                        <a:rPr lang="en-IN" dirty="0"/>
                        <a:t>Methodology</a:t>
                      </a:r>
                    </a:p>
                  </a:txBody>
                  <a:tcPr/>
                </a:tc>
                <a:tc>
                  <a:txBody>
                    <a:bodyPr/>
                    <a:lstStyle/>
                    <a:p>
                      <a:r>
                        <a:rPr lang="en-IN" dirty="0"/>
                        <a:t>Research Gap</a:t>
                      </a:r>
                    </a:p>
                  </a:txBody>
                  <a:tcPr/>
                </a:tc>
                <a:extLst>
                  <a:ext uri="{0D108BD9-81ED-4DB2-BD59-A6C34878D82A}">
                    <a16:rowId xmlns:a16="http://schemas.microsoft.com/office/drawing/2014/main" val="2936797393"/>
                  </a:ext>
                </a:extLst>
              </a:tr>
              <a:tr h="2358002">
                <a:tc>
                  <a:txBody>
                    <a:bodyPr/>
                    <a:lstStyle/>
                    <a:p>
                      <a:r>
                        <a:rPr lang="en-US" sz="1100" dirty="0">
                          <a:latin typeface="Times New Roman" panose="02020603050405020304" pitchFamily="18" charset="0"/>
                          <a:cs typeface="Times New Roman" panose="02020603050405020304" pitchFamily="18" charset="0"/>
                        </a:rPr>
                        <a:t>Automatic Polyp Detection Using Microwave Endoscopy for Colorectal Cancer Prevention and Early Detection</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ALEJANDRA GARRIDO 1, ROBERTO SONT 1,</a:t>
                      </a:r>
                    </a:p>
                  </a:txBody>
                  <a:tcPr/>
                </a:tc>
                <a:tc>
                  <a:txBody>
                    <a:bodyPr/>
                    <a:lstStyle/>
                    <a:p>
                      <a:r>
                        <a:rPr lang="en-US" sz="1100" dirty="0">
                          <a:latin typeface="Times New Roman" panose="02020603050405020304" pitchFamily="18" charset="0"/>
                          <a:cs typeface="Times New Roman" panose="02020603050405020304" pitchFamily="18" charset="0"/>
                        </a:rPr>
                        <a:t>The paper presents a novel microwave endoscopy system designed to integrate microwave imaging with optical colonoscopy, aiming to enhance colorectal cancer prevention and early detection.</a:t>
                      </a:r>
                    </a:p>
                    <a:p>
                      <a:r>
                        <a:rPr lang="en-US" sz="1100" dirty="0">
                          <a:latin typeface="Times New Roman" panose="02020603050405020304" pitchFamily="18" charset="0"/>
                          <a:cs typeface="Times New Roman" panose="02020603050405020304" pitchFamily="18" charset="0"/>
                        </a:rPr>
                        <a:t>It can generate an alarm when a polyp is detected, helping address the 22% miss rate of traditional colonoscopies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Microwave imaging system</a:t>
                      </a:r>
                    </a:p>
                  </a:txBody>
                  <a:tcPr/>
                </a:tc>
                <a:tc>
                  <a:txBody>
                    <a:bodyPr/>
                    <a:lstStyle/>
                    <a:p>
                      <a:r>
                        <a:rPr lang="en-US" sz="1100" dirty="0">
                          <a:latin typeface="Times New Roman" panose="02020603050405020304" pitchFamily="18" charset="0"/>
                          <a:cs typeface="Times New Roman" panose="02020603050405020304" pitchFamily="18" charset="0"/>
                        </a:rPr>
                        <a:t>The ability to detect polyps of various sizes and shapes, particularly flat or sessile polyps, needs investigation It is required to test the system in preclinical </a:t>
                      </a:r>
                      <a:r>
                        <a:rPr lang="en-US" sz="1100" dirty="0" err="1">
                          <a:latin typeface="Times New Roman" panose="02020603050405020304" pitchFamily="18" charset="0"/>
                          <a:cs typeface="Times New Roman" panose="02020603050405020304" pitchFamily="18" charset="0"/>
                        </a:rPr>
                        <a:t>triais</a:t>
                      </a:r>
                      <a:r>
                        <a:rPr lang="en-US" sz="1100" dirty="0">
                          <a:latin typeface="Times New Roman" panose="02020603050405020304" pitchFamily="18" charset="0"/>
                          <a:cs typeface="Times New Roman" panose="02020603050405020304" pitchFamily="18" charset="0"/>
                        </a:rPr>
                        <a:t>, focusing on real human models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83240867"/>
                  </a:ext>
                </a:extLst>
              </a:tr>
              <a:tr h="1709551">
                <a:tc>
                  <a:txBody>
                    <a:bodyPr/>
                    <a:lstStyle/>
                    <a:p>
                      <a:r>
                        <a:rPr lang="en-IN" sz="1100" dirty="0">
                          <a:latin typeface="Times New Roman" panose="02020603050405020304" pitchFamily="18" charset="0"/>
                          <a:cs typeface="Times New Roman" panose="02020603050405020304" pitchFamily="18" charset="0"/>
                        </a:rPr>
                        <a:t>A comprehensive study on colorectal polyp with resunet++ ,conditional random field</a:t>
                      </a:r>
                    </a:p>
                  </a:txBody>
                  <a:tcPr/>
                </a:tc>
                <a:tc>
                  <a:txBody>
                    <a:bodyPr/>
                    <a:lstStyle/>
                    <a:p>
                      <a:r>
                        <a:rPr lang="fi-FI" sz="1100" b="0" i="0" u="none" strike="noStrike" kern="1200" baseline="0" dirty="0">
                          <a:solidFill>
                            <a:schemeClr val="dk1"/>
                          </a:solidFill>
                          <a:latin typeface="Times New Roman" panose="02020603050405020304" pitchFamily="18" charset="0"/>
                          <a:ea typeface="+mn-ea"/>
                          <a:cs typeface="Times New Roman" panose="02020603050405020304" pitchFamily="18" charset="0"/>
                        </a:rPr>
                        <a:t>KHALED ELKARAZLE  VALLIAPPAN RAMAN</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The model is evaluated across multiple datasets, showing that the method achieves strong segmentation performance The model's potential to generalize across different datasets, especially in detecting hard-to-find polyps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Random Field and Test-Tune Augmentation</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Should focus on further enhancing the generalizability of the ResNet model by exploring more diverse datasets and testing in real-time clinical environments.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13116716"/>
                  </a:ext>
                </a:extLst>
              </a:tr>
            </a:tbl>
          </a:graphicData>
        </a:graphic>
      </p:graphicFrame>
    </p:spTree>
    <p:extLst>
      <p:ext uri="{BB962C8B-B14F-4D97-AF65-F5344CB8AC3E}">
        <p14:creationId xmlns:p14="http://schemas.microsoft.com/office/powerpoint/2010/main" val="1555400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5048" y="620688"/>
            <a:ext cx="8568952" cy="3539430"/>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                        Problem Statement</a:t>
            </a:r>
            <a:endParaRPr lang="en-US" sz="32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Colorectal cancer is a leading cause of cancer-related deaths, and early detection of polyps is critical for effective treatment. Manual identification during colonoscopy is time-consuming and error-prone, requiring automated, reliable solutions. This project aims to develop a system using YOLOv8 and transfer learning to accurately detect and classify polyps, improving diagnostic efficiency and accuracy.</a:t>
            </a:r>
          </a:p>
          <a:p>
            <a:pPr marL="457200" indent="-4572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AC807FA4-A7D0-BC4A-7EDE-530ABEC789DD}"/>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323528" y="0"/>
            <a:ext cx="1296144" cy="1253420"/>
          </a:xfrm>
          <a:prstGeom prst="rect">
            <a:avLst/>
          </a:prstGeom>
        </p:spPr>
      </p:pic>
    </p:spTree>
    <p:extLst>
      <p:ext uri="{BB962C8B-B14F-4D97-AF65-F5344CB8AC3E}">
        <p14:creationId xmlns:p14="http://schemas.microsoft.com/office/powerpoint/2010/main" val="2410944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8D909-12B1-DEA2-8D0E-FF344BDACC6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732EC04-B612-EB40-6FB4-F7271F62430E}"/>
              </a:ext>
            </a:extLst>
          </p:cNvPr>
          <p:cNvSpPr txBox="1"/>
          <p:nvPr/>
        </p:nvSpPr>
        <p:spPr>
          <a:xfrm>
            <a:off x="575048" y="620688"/>
            <a:ext cx="8568952" cy="584775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                        Existing System</a:t>
            </a:r>
          </a:p>
          <a:p>
            <a:endParaRPr lang="en-US" sz="3200"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Existing systems for colorectal polyp detection primarily rely on manual analysis of endoscopic images by medical professionals, which is time-consuming and prone to human error. Some AI-based tools exist but often lack real-time processing capabilities, high segmentation accuracy, or adaptability to different image qualities. Additionally, traditional systems may not integrate advanced deep learning models like transformers or offer explainable outputs for clinical use. existing systems for colorectal polyp detection mainly utilized traditional CNN-based models such as Faster R-CNN, SSD (Single Shot Detector), and YOLOv3/v4. These models provided decent object detection capabilities but often lacked precision in segmenting small or flat polyps and struggled with real-time performance in clinical settings. Additionally, older models required more computational resources and were less effective in handling variations in polyp shape, size, and texture.</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095FFAEF-7EB3-4B1D-E284-E2DABB983FB4}"/>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323528" y="0"/>
            <a:ext cx="1296144" cy="1253420"/>
          </a:xfrm>
          <a:prstGeom prst="rect">
            <a:avLst/>
          </a:prstGeom>
        </p:spPr>
      </p:pic>
    </p:spTree>
    <p:extLst>
      <p:ext uri="{BB962C8B-B14F-4D97-AF65-F5344CB8AC3E}">
        <p14:creationId xmlns:p14="http://schemas.microsoft.com/office/powerpoint/2010/main" val="3909025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47664" y="804442"/>
            <a:ext cx="7344816" cy="5632311"/>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Proposed System</a:t>
            </a:r>
            <a:endParaRPr lang="en-US" sz="32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This proposed system leverages transfer learning with the YOLOv8 algorithm to detect colorectal polyps quickly and accurately while minimizing training time. By fine-tuning pretrained YOLOv8 on a specialized dataset, the system can efficiently identify and localize polyps in colonoscopy images in real-time. Additionally, the system assesses the likelihood of each detected polyp being cancerous by classifying it based on its features (e.g., size, shape, texture). This risk prediction aids in identifying high-risk polyps for early intervention, supporting timely and informed clinical decisions. Together, the rapid detection and risk assessment provide a comprehensive tool for improving outcomes in colorectal cancer prevention and treatment.</a:t>
            </a:r>
          </a:p>
          <a:p>
            <a:endParaRPr lang="en-US" sz="2800" dirty="0">
              <a:latin typeface="Times New Roman" panose="02020603050405020304" pitchFamily="18" charset="0"/>
              <a:cs typeface="Times New Roman" panose="02020603050405020304" pitchFamily="18" charset="0"/>
            </a:endParaRPr>
          </a:p>
          <a:p>
            <a:pPr>
              <a:buFont typeface="Wingdings" pitchFamily="2" charset="2"/>
              <a:buChar char="§"/>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AC807FA4-A7D0-BC4A-7EDE-530ABEC789DD}"/>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251520" y="188640"/>
            <a:ext cx="1296144" cy="1253420"/>
          </a:xfrm>
          <a:prstGeom prst="rect">
            <a:avLst/>
          </a:prstGeom>
        </p:spPr>
      </p:pic>
    </p:spTree>
    <p:extLst>
      <p:ext uri="{BB962C8B-B14F-4D97-AF65-F5344CB8AC3E}">
        <p14:creationId xmlns:p14="http://schemas.microsoft.com/office/powerpoint/2010/main" val="3936479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47664" y="908720"/>
            <a:ext cx="8064896" cy="304698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Methodology</a:t>
            </a:r>
            <a:endParaRPr lang="en-US" sz="24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a:buFont typeface="Wingdings" pitchFamily="2" charset="2"/>
              <a:buChar char="§"/>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AC807FA4-A7D0-BC4A-7EDE-530ABEC789DD}"/>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251520" y="188640"/>
            <a:ext cx="1296144" cy="1253420"/>
          </a:xfrm>
          <a:prstGeom prst="rect">
            <a:avLst/>
          </a:prstGeom>
        </p:spPr>
      </p:pic>
      <p:sp>
        <p:nvSpPr>
          <p:cNvPr id="2" name="Rectangle: Rounded Corners 1">
            <a:extLst>
              <a:ext uri="{FF2B5EF4-FFF2-40B4-BE49-F238E27FC236}">
                <a16:creationId xmlns:a16="http://schemas.microsoft.com/office/drawing/2014/main" id="{3405A968-BB22-E06B-83CA-359A99650DA7}"/>
              </a:ext>
            </a:extLst>
          </p:cNvPr>
          <p:cNvSpPr/>
          <p:nvPr/>
        </p:nvSpPr>
        <p:spPr>
          <a:xfrm>
            <a:off x="251520" y="1556792"/>
            <a:ext cx="1656184" cy="11521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a:p>
            <a:pPr algn="ctr"/>
            <a:r>
              <a:rPr lang="en-IN" dirty="0"/>
              <a:t>Data collection &amp; dataset organization </a:t>
            </a:r>
          </a:p>
          <a:p>
            <a:pPr algn="ctr"/>
            <a:endParaRPr lang="en-IN" dirty="0"/>
          </a:p>
        </p:txBody>
      </p:sp>
      <p:sp>
        <p:nvSpPr>
          <p:cNvPr id="10" name="Rectangle: Rounded Corners 9">
            <a:extLst>
              <a:ext uri="{FF2B5EF4-FFF2-40B4-BE49-F238E27FC236}">
                <a16:creationId xmlns:a16="http://schemas.microsoft.com/office/drawing/2014/main" id="{3CFAA364-17C8-60F8-FDA8-D2E126AB81D1}"/>
              </a:ext>
            </a:extLst>
          </p:cNvPr>
          <p:cNvSpPr/>
          <p:nvPr/>
        </p:nvSpPr>
        <p:spPr>
          <a:xfrm>
            <a:off x="2539280" y="1833510"/>
            <a:ext cx="1800200" cy="6898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Data Preprocessing</a:t>
            </a:r>
          </a:p>
        </p:txBody>
      </p:sp>
      <p:sp>
        <p:nvSpPr>
          <p:cNvPr id="12" name="Rectangle: Rounded Corners 11">
            <a:extLst>
              <a:ext uri="{FF2B5EF4-FFF2-40B4-BE49-F238E27FC236}">
                <a16:creationId xmlns:a16="http://schemas.microsoft.com/office/drawing/2014/main" id="{DA06A98E-90FC-B340-71F4-B6B3C875D552}"/>
              </a:ext>
            </a:extLst>
          </p:cNvPr>
          <p:cNvSpPr/>
          <p:nvPr/>
        </p:nvSpPr>
        <p:spPr>
          <a:xfrm>
            <a:off x="7234174" y="2985435"/>
            <a:ext cx="1612785" cy="8335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Data input formatting</a:t>
            </a:r>
          </a:p>
        </p:txBody>
      </p:sp>
      <p:sp>
        <p:nvSpPr>
          <p:cNvPr id="13" name="Rectangle: Rounded Corners 12">
            <a:extLst>
              <a:ext uri="{FF2B5EF4-FFF2-40B4-BE49-F238E27FC236}">
                <a16:creationId xmlns:a16="http://schemas.microsoft.com/office/drawing/2014/main" id="{67D42CDE-5E00-6E86-99EC-0BD0B60C7307}"/>
              </a:ext>
            </a:extLst>
          </p:cNvPr>
          <p:cNvSpPr/>
          <p:nvPr/>
        </p:nvSpPr>
        <p:spPr>
          <a:xfrm>
            <a:off x="4844147" y="2984025"/>
            <a:ext cx="1800200" cy="79536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Model Configuration</a:t>
            </a:r>
          </a:p>
        </p:txBody>
      </p:sp>
      <p:sp>
        <p:nvSpPr>
          <p:cNvPr id="14" name="Rectangle: Rounded Corners 13">
            <a:extLst>
              <a:ext uri="{FF2B5EF4-FFF2-40B4-BE49-F238E27FC236}">
                <a16:creationId xmlns:a16="http://schemas.microsoft.com/office/drawing/2014/main" id="{9BBB09FE-9171-67B5-7577-B0B5E6A04C7E}"/>
              </a:ext>
            </a:extLst>
          </p:cNvPr>
          <p:cNvSpPr/>
          <p:nvPr/>
        </p:nvSpPr>
        <p:spPr>
          <a:xfrm>
            <a:off x="473097" y="4509972"/>
            <a:ext cx="1656184" cy="8640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Fine tune final layers</a:t>
            </a:r>
          </a:p>
        </p:txBody>
      </p:sp>
      <p:sp>
        <p:nvSpPr>
          <p:cNvPr id="15" name="Rectangle: Rounded Corners 14">
            <a:extLst>
              <a:ext uri="{FF2B5EF4-FFF2-40B4-BE49-F238E27FC236}">
                <a16:creationId xmlns:a16="http://schemas.microsoft.com/office/drawing/2014/main" id="{2F793121-8C06-0D40-71D3-AD3A28C2DEE2}"/>
              </a:ext>
            </a:extLst>
          </p:cNvPr>
          <p:cNvSpPr/>
          <p:nvPr/>
        </p:nvSpPr>
        <p:spPr>
          <a:xfrm>
            <a:off x="2776197" y="4530348"/>
            <a:ext cx="1411785" cy="8640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Model  training</a:t>
            </a:r>
          </a:p>
        </p:txBody>
      </p:sp>
      <p:sp>
        <p:nvSpPr>
          <p:cNvPr id="16" name="Arrow: Right 15">
            <a:extLst>
              <a:ext uri="{FF2B5EF4-FFF2-40B4-BE49-F238E27FC236}">
                <a16:creationId xmlns:a16="http://schemas.microsoft.com/office/drawing/2014/main" id="{16B4FCC8-204C-8956-5828-B010B3CB2C33}"/>
              </a:ext>
            </a:extLst>
          </p:cNvPr>
          <p:cNvSpPr/>
          <p:nvPr/>
        </p:nvSpPr>
        <p:spPr>
          <a:xfrm>
            <a:off x="1907704" y="1962430"/>
            <a:ext cx="631576" cy="4320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Arrow: Down 17">
            <a:extLst>
              <a:ext uri="{FF2B5EF4-FFF2-40B4-BE49-F238E27FC236}">
                <a16:creationId xmlns:a16="http://schemas.microsoft.com/office/drawing/2014/main" id="{EF4DDAD9-8CAD-91AE-746F-377ADD2A10C5}"/>
              </a:ext>
            </a:extLst>
          </p:cNvPr>
          <p:cNvSpPr/>
          <p:nvPr/>
        </p:nvSpPr>
        <p:spPr>
          <a:xfrm>
            <a:off x="7666763" y="2469777"/>
            <a:ext cx="432048" cy="51565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Left 18">
            <a:extLst>
              <a:ext uri="{FF2B5EF4-FFF2-40B4-BE49-F238E27FC236}">
                <a16:creationId xmlns:a16="http://schemas.microsoft.com/office/drawing/2014/main" id="{9B3DCFC3-A0FB-9C68-A6B0-F841533672EF}"/>
              </a:ext>
            </a:extLst>
          </p:cNvPr>
          <p:cNvSpPr/>
          <p:nvPr/>
        </p:nvSpPr>
        <p:spPr>
          <a:xfrm>
            <a:off x="6644347" y="3235697"/>
            <a:ext cx="589827" cy="44515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a:extLst>
              <a:ext uri="{FF2B5EF4-FFF2-40B4-BE49-F238E27FC236}">
                <a16:creationId xmlns:a16="http://schemas.microsoft.com/office/drawing/2014/main" id="{A2EECED5-2000-1FBE-0DBB-72B6CA9ED8CC}"/>
              </a:ext>
            </a:extLst>
          </p:cNvPr>
          <p:cNvPicPr>
            <a:picLocks noChangeAspect="1"/>
          </p:cNvPicPr>
          <p:nvPr/>
        </p:nvPicPr>
        <p:blipFill>
          <a:blip r:embed="rId3"/>
          <a:stretch>
            <a:fillRect/>
          </a:stretch>
        </p:blipFill>
        <p:spPr>
          <a:xfrm>
            <a:off x="4113018" y="3283199"/>
            <a:ext cx="704912" cy="371888"/>
          </a:xfrm>
          <a:prstGeom prst="rect">
            <a:avLst/>
          </a:prstGeom>
        </p:spPr>
      </p:pic>
      <p:sp>
        <p:nvSpPr>
          <p:cNvPr id="21" name="Arrow: Down 20">
            <a:extLst>
              <a:ext uri="{FF2B5EF4-FFF2-40B4-BE49-F238E27FC236}">
                <a16:creationId xmlns:a16="http://schemas.microsoft.com/office/drawing/2014/main" id="{937DA543-73BC-08B6-E0E1-8BEAF843C2AB}"/>
              </a:ext>
            </a:extLst>
          </p:cNvPr>
          <p:cNvSpPr/>
          <p:nvPr/>
        </p:nvSpPr>
        <p:spPr>
          <a:xfrm>
            <a:off x="1072646" y="3955708"/>
            <a:ext cx="432048" cy="5816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D4A26178-F99E-F308-4EB0-0E045CB66563}"/>
              </a:ext>
            </a:extLst>
          </p:cNvPr>
          <p:cNvSpPr/>
          <p:nvPr/>
        </p:nvSpPr>
        <p:spPr>
          <a:xfrm>
            <a:off x="2129281" y="4756710"/>
            <a:ext cx="642519" cy="4207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75C07150-4EF0-1615-92E6-768A213D622C}"/>
              </a:ext>
            </a:extLst>
          </p:cNvPr>
          <p:cNvPicPr>
            <a:picLocks noChangeAspect="1"/>
          </p:cNvPicPr>
          <p:nvPr/>
        </p:nvPicPr>
        <p:blipFill>
          <a:blip r:embed="rId4"/>
          <a:stretch>
            <a:fillRect/>
          </a:stretch>
        </p:blipFill>
        <p:spPr>
          <a:xfrm>
            <a:off x="4337283" y="1954215"/>
            <a:ext cx="469433" cy="469433"/>
          </a:xfrm>
          <a:prstGeom prst="rect">
            <a:avLst/>
          </a:prstGeom>
        </p:spPr>
      </p:pic>
      <p:sp>
        <p:nvSpPr>
          <p:cNvPr id="4" name="Rectangle: Rounded Corners 3">
            <a:extLst>
              <a:ext uri="{FF2B5EF4-FFF2-40B4-BE49-F238E27FC236}">
                <a16:creationId xmlns:a16="http://schemas.microsoft.com/office/drawing/2014/main" id="{C7E93D9D-C524-9BED-610E-B10F425C994A}"/>
              </a:ext>
            </a:extLst>
          </p:cNvPr>
          <p:cNvSpPr/>
          <p:nvPr/>
        </p:nvSpPr>
        <p:spPr>
          <a:xfrm>
            <a:off x="6966612" y="1674658"/>
            <a:ext cx="1728192" cy="81017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Model initialization</a:t>
            </a:r>
          </a:p>
        </p:txBody>
      </p:sp>
      <p:sp>
        <p:nvSpPr>
          <p:cNvPr id="8" name="Rectangle: Rounded Corners 7">
            <a:extLst>
              <a:ext uri="{FF2B5EF4-FFF2-40B4-BE49-F238E27FC236}">
                <a16:creationId xmlns:a16="http://schemas.microsoft.com/office/drawing/2014/main" id="{69B2D08B-1303-DED1-9CC6-2A64066B21E5}"/>
              </a:ext>
            </a:extLst>
          </p:cNvPr>
          <p:cNvSpPr/>
          <p:nvPr/>
        </p:nvSpPr>
        <p:spPr>
          <a:xfrm>
            <a:off x="2539280" y="2984025"/>
            <a:ext cx="1599955" cy="8022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Transfer learning integration</a:t>
            </a:r>
          </a:p>
        </p:txBody>
      </p:sp>
      <p:pic>
        <p:nvPicPr>
          <p:cNvPr id="23" name="Picture 22">
            <a:extLst>
              <a:ext uri="{FF2B5EF4-FFF2-40B4-BE49-F238E27FC236}">
                <a16:creationId xmlns:a16="http://schemas.microsoft.com/office/drawing/2014/main" id="{E9B2C0C9-1B68-FD60-7BEC-FC391B0A61C6}"/>
              </a:ext>
            </a:extLst>
          </p:cNvPr>
          <p:cNvPicPr>
            <a:picLocks noChangeAspect="1"/>
          </p:cNvPicPr>
          <p:nvPr/>
        </p:nvPicPr>
        <p:blipFill>
          <a:blip r:embed="rId5"/>
          <a:stretch>
            <a:fillRect/>
          </a:stretch>
        </p:blipFill>
        <p:spPr>
          <a:xfrm>
            <a:off x="2051720" y="3243056"/>
            <a:ext cx="474451" cy="371888"/>
          </a:xfrm>
          <a:prstGeom prst="rect">
            <a:avLst/>
          </a:prstGeom>
        </p:spPr>
      </p:pic>
      <p:sp>
        <p:nvSpPr>
          <p:cNvPr id="24" name="Rectangle: Rounded Corners 23">
            <a:extLst>
              <a:ext uri="{FF2B5EF4-FFF2-40B4-BE49-F238E27FC236}">
                <a16:creationId xmlns:a16="http://schemas.microsoft.com/office/drawing/2014/main" id="{F4D6BE88-0B79-E0B7-A68F-C1CBE4ED11B5}"/>
              </a:ext>
            </a:extLst>
          </p:cNvPr>
          <p:cNvSpPr/>
          <p:nvPr/>
        </p:nvSpPr>
        <p:spPr>
          <a:xfrm>
            <a:off x="4808913" y="1773366"/>
            <a:ext cx="1705181" cy="81017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Set up yolov8 environment</a:t>
            </a:r>
          </a:p>
        </p:txBody>
      </p:sp>
      <p:pic>
        <p:nvPicPr>
          <p:cNvPr id="25" name="Picture 24">
            <a:extLst>
              <a:ext uri="{FF2B5EF4-FFF2-40B4-BE49-F238E27FC236}">
                <a16:creationId xmlns:a16="http://schemas.microsoft.com/office/drawing/2014/main" id="{DED51229-56DB-1474-3100-61417CA80F8D}"/>
              </a:ext>
            </a:extLst>
          </p:cNvPr>
          <p:cNvPicPr>
            <a:picLocks noChangeAspect="1"/>
          </p:cNvPicPr>
          <p:nvPr/>
        </p:nvPicPr>
        <p:blipFill>
          <a:blip r:embed="rId6"/>
          <a:stretch>
            <a:fillRect/>
          </a:stretch>
        </p:blipFill>
        <p:spPr>
          <a:xfrm>
            <a:off x="6514094" y="1917796"/>
            <a:ext cx="475529" cy="469433"/>
          </a:xfrm>
          <a:prstGeom prst="rect">
            <a:avLst/>
          </a:prstGeom>
        </p:spPr>
      </p:pic>
      <p:sp>
        <p:nvSpPr>
          <p:cNvPr id="26" name="Rectangle: Rounded Corners 25">
            <a:extLst>
              <a:ext uri="{FF2B5EF4-FFF2-40B4-BE49-F238E27FC236}">
                <a16:creationId xmlns:a16="http://schemas.microsoft.com/office/drawing/2014/main" id="{317009CB-6D85-5B9C-49FD-DFDB15634BA5}"/>
              </a:ext>
            </a:extLst>
          </p:cNvPr>
          <p:cNvSpPr/>
          <p:nvPr/>
        </p:nvSpPr>
        <p:spPr>
          <a:xfrm>
            <a:off x="539552" y="2984025"/>
            <a:ext cx="1512168" cy="9716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Freeze Initial Layers</a:t>
            </a:r>
          </a:p>
        </p:txBody>
      </p:sp>
      <p:sp>
        <p:nvSpPr>
          <p:cNvPr id="27" name="Rectangle: Rounded Corners 26">
            <a:extLst>
              <a:ext uri="{FF2B5EF4-FFF2-40B4-BE49-F238E27FC236}">
                <a16:creationId xmlns:a16="http://schemas.microsoft.com/office/drawing/2014/main" id="{371BA387-1CDF-B078-C804-0417968347DA}"/>
              </a:ext>
            </a:extLst>
          </p:cNvPr>
          <p:cNvSpPr/>
          <p:nvPr/>
        </p:nvSpPr>
        <p:spPr>
          <a:xfrm>
            <a:off x="4713698" y="4488066"/>
            <a:ext cx="1319433" cy="9079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Polyp detection</a:t>
            </a:r>
          </a:p>
        </p:txBody>
      </p:sp>
      <p:pic>
        <p:nvPicPr>
          <p:cNvPr id="29" name="Picture 28">
            <a:extLst>
              <a:ext uri="{FF2B5EF4-FFF2-40B4-BE49-F238E27FC236}">
                <a16:creationId xmlns:a16="http://schemas.microsoft.com/office/drawing/2014/main" id="{D6DDCE9F-7DC1-41BD-4289-B36FC409157F}"/>
              </a:ext>
            </a:extLst>
          </p:cNvPr>
          <p:cNvPicPr>
            <a:picLocks noChangeAspect="1"/>
          </p:cNvPicPr>
          <p:nvPr/>
        </p:nvPicPr>
        <p:blipFill>
          <a:blip r:embed="rId7"/>
          <a:stretch>
            <a:fillRect/>
          </a:stretch>
        </p:blipFill>
        <p:spPr>
          <a:xfrm>
            <a:off x="4187982" y="4745445"/>
            <a:ext cx="525716" cy="457240"/>
          </a:xfrm>
          <a:prstGeom prst="rect">
            <a:avLst/>
          </a:prstGeom>
        </p:spPr>
      </p:pic>
      <p:sp>
        <p:nvSpPr>
          <p:cNvPr id="30" name="Rectangle: Rounded Corners 29">
            <a:extLst>
              <a:ext uri="{FF2B5EF4-FFF2-40B4-BE49-F238E27FC236}">
                <a16:creationId xmlns:a16="http://schemas.microsoft.com/office/drawing/2014/main" id="{8FF35FEC-8ED2-33E0-1923-AA7DDBE02D20}"/>
              </a:ext>
            </a:extLst>
          </p:cNvPr>
          <p:cNvSpPr/>
          <p:nvPr/>
        </p:nvSpPr>
        <p:spPr>
          <a:xfrm>
            <a:off x="6444208" y="4443928"/>
            <a:ext cx="2699792" cy="8751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Generation of bounding boxes with confidence scores</a:t>
            </a:r>
          </a:p>
        </p:txBody>
      </p:sp>
      <p:pic>
        <p:nvPicPr>
          <p:cNvPr id="31" name="Picture 30">
            <a:extLst>
              <a:ext uri="{FF2B5EF4-FFF2-40B4-BE49-F238E27FC236}">
                <a16:creationId xmlns:a16="http://schemas.microsoft.com/office/drawing/2014/main" id="{D6EBA5D6-C503-F2F1-ABDB-468C3D902B8E}"/>
              </a:ext>
            </a:extLst>
          </p:cNvPr>
          <p:cNvPicPr>
            <a:picLocks noChangeAspect="1"/>
          </p:cNvPicPr>
          <p:nvPr/>
        </p:nvPicPr>
        <p:blipFill>
          <a:blip r:embed="rId8"/>
          <a:stretch>
            <a:fillRect/>
          </a:stretch>
        </p:blipFill>
        <p:spPr>
          <a:xfrm>
            <a:off x="6015010" y="4713399"/>
            <a:ext cx="429197" cy="457240"/>
          </a:xfrm>
          <a:prstGeom prst="rect">
            <a:avLst/>
          </a:prstGeom>
        </p:spPr>
      </p:pic>
      <p:sp>
        <p:nvSpPr>
          <p:cNvPr id="32" name="Rectangle: Rounded Corners 31">
            <a:extLst>
              <a:ext uri="{FF2B5EF4-FFF2-40B4-BE49-F238E27FC236}">
                <a16:creationId xmlns:a16="http://schemas.microsoft.com/office/drawing/2014/main" id="{6B552A8B-7E03-C6EE-8DF0-A8434B00AAF8}"/>
              </a:ext>
            </a:extLst>
          </p:cNvPr>
          <p:cNvSpPr/>
          <p:nvPr/>
        </p:nvSpPr>
        <p:spPr>
          <a:xfrm>
            <a:off x="6966612" y="6021288"/>
            <a:ext cx="1880347" cy="7200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Polyp classification</a:t>
            </a:r>
          </a:p>
        </p:txBody>
      </p:sp>
      <p:sp>
        <p:nvSpPr>
          <p:cNvPr id="33" name="Rectangle: Rounded Corners 32">
            <a:extLst>
              <a:ext uri="{FF2B5EF4-FFF2-40B4-BE49-F238E27FC236}">
                <a16:creationId xmlns:a16="http://schemas.microsoft.com/office/drawing/2014/main" id="{63C467D5-DC85-26D8-1DFF-3F5961641DF2}"/>
              </a:ext>
            </a:extLst>
          </p:cNvPr>
          <p:cNvSpPr/>
          <p:nvPr/>
        </p:nvSpPr>
        <p:spPr>
          <a:xfrm>
            <a:off x="4499992" y="6021288"/>
            <a:ext cx="1656184" cy="836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Model evaluation and testing</a:t>
            </a:r>
          </a:p>
        </p:txBody>
      </p:sp>
      <p:sp>
        <p:nvSpPr>
          <p:cNvPr id="34" name="Rectangle: Rounded Corners 33">
            <a:extLst>
              <a:ext uri="{FF2B5EF4-FFF2-40B4-BE49-F238E27FC236}">
                <a16:creationId xmlns:a16="http://schemas.microsoft.com/office/drawing/2014/main" id="{38AA0442-1750-CE1F-4004-EA5BDAAF6CB2}"/>
              </a:ext>
            </a:extLst>
          </p:cNvPr>
          <p:cNvSpPr/>
          <p:nvPr/>
        </p:nvSpPr>
        <p:spPr>
          <a:xfrm>
            <a:off x="2224112" y="5969084"/>
            <a:ext cx="1656183" cy="836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deployment</a:t>
            </a:r>
          </a:p>
        </p:txBody>
      </p:sp>
      <p:pic>
        <p:nvPicPr>
          <p:cNvPr id="35" name="Picture 34">
            <a:extLst>
              <a:ext uri="{FF2B5EF4-FFF2-40B4-BE49-F238E27FC236}">
                <a16:creationId xmlns:a16="http://schemas.microsoft.com/office/drawing/2014/main" id="{54C0B0AF-8563-585A-DBAA-003BE476CCA4}"/>
              </a:ext>
            </a:extLst>
          </p:cNvPr>
          <p:cNvPicPr>
            <a:picLocks noChangeAspect="1"/>
          </p:cNvPicPr>
          <p:nvPr/>
        </p:nvPicPr>
        <p:blipFill>
          <a:blip r:embed="rId9"/>
          <a:stretch>
            <a:fillRect/>
          </a:stretch>
        </p:blipFill>
        <p:spPr>
          <a:xfrm>
            <a:off x="7536832" y="5319082"/>
            <a:ext cx="469433" cy="702206"/>
          </a:xfrm>
          <a:prstGeom prst="rect">
            <a:avLst/>
          </a:prstGeom>
        </p:spPr>
      </p:pic>
      <p:pic>
        <p:nvPicPr>
          <p:cNvPr id="36" name="Picture 35">
            <a:extLst>
              <a:ext uri="{FF2B5EF4-FFF2-40B4-BE49-F238E27FC236}">
                <a16:creationId xmlns:a16="http://schemas.microsoft.com/office/drawing/2014/main" id="{B137C3A7-3307-AA72-1A9F-003D23103AB1}"/>
              </a:ext>
            </a:extLst>
          </p:cNvPr>
          <p:cNvPicPr>
            <a:picLocks noChangeAspect="1"/>
          </p:cNvPicPr>
          <p:nvPr/>
        </p:nvPicPr>
        <p:blipFill>
          <a:blip r:embed="rId10"/>
          <a:stretch>
            <a:fillRect/>
          </a:stretch>
        </p:blipFill>
        <p:spPr>
          <a:xfrm>
            <a:off x="6156176" y="6191373"/>
            <a:ext cx="833446" cy="457240"/>
          </a:xfrm>
          <a:prstGeom prst="rect">
            <a:avLst/>
          </a:prstGeom>
        </p:spPr>
      </p:pic>
      <p:pic>
        <p:nvPicPr>
          <p:cNvPr id="37" name="Picture 36">
            <a:extLst>
              <a:ext uri="{FF2B5EF4-FFF2-40B4-BE49-F238E27FC236}">
                <a16:creationId xmlns:a16="http://schemas.microsoft.com/office/drawing/2014/main" id="{E9B24D2E-892F-C273-E794-FA67FF26C9C5}"/>
              </a:ext>
            </a:extLst>
          </p:cNvPr>
          <p:cNvPicPr>
            <a:picLocks noChangeAspect="1"/>
          </p:cNvPicPr>
          <p:nvPr/>
        </p:nvPicPr>
        <p:blipFill>
          <a:blip r:embed="rId10"/>
          <a:stretch>
            <a:fillRect/>
          </a:stretch>
        </p:blipFill>
        <p:spPr>
          <a:xfrm>
            <a:off x="3894226" y="6224033"/>
            <a:ext cx="603556" cy="457240"/>
          </a:xfrm>
          <a:prstGeom prst="rect">
            <a:avLst/>
          </a:prstGeom>
        </p:spPr>
      </p:pic>
    </p:spTree>
    <p:extLst>
      <p:ext uri="{BB962C8B-B14F-4D97-AF65-F5344CB8AC3E}">
        <p14:creationId xmlns:p14="http://schemas.microsoft.com/office/powerpoint/2010/main" val="2539598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27C5A-3E9F-5FDC-8CED-04BC14CFE46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2104A57-EB2A-CB0A-F5B6-57F93DCC88BE}"/>
              </a:ext>
            </a:extLst>
          </p:cNvPr>
          <p:cNvSpPr txBox="1"/>
          <p:nvPr/>
        </p:nvSpPr>
        <p:spPr>
          <a:xfrm>
            <a:off x="1547664" y="804442"/>
            <a:ext cx="7344816" cy="3416320"/>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Class Hierarchy Diagram</a:t>
            </a:r>
            <a:endParaRPr lang="en-US" sz="32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a:buFont typeface="Wingdings" pitchFamily="2" charset="2"/>
              <a:buChar char="§"/>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1F08B2E9-F7E8-9F15-79C6-6FFA38E7232F}"/>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251520" y="188640"/>
            <a:ext cx="1296144" cy="1253420"/>
          </a:xfrm>
          <a:prstGeom prst="rect">
            <a:avLst/>
          </a:prstGeom>
        </p:spPr>
      </p:pic>
      <p:pic>
        <p:nvPicPr>
          <p:cNvPr id="3" name="Picture 2">
            <a:extLst>
              <a:ext uri="{FF2B5EF4-FFF2-40B4-BE49-F238E27FC236}">
                <a16:creationId xmlns:a16="http://schemas.microsoft.com/office/drawing/2014/main" id="{62D1A2F0-96FE-3771-3DCE-118269764B2D}"/>
              </a:ext>
            </a:extLst>
          </p:cNvPr>
          <p:cNvPicPr>
            <a:picLocks noChangeAspect="1"/>
          </p:cNvPicPr>
          <p:nvPr/>
        </p:nvPicPr>
        <p:blipFill>
          <a:blip r:embed="rId3"/>
          <a:stretch>
            <a:fillRect/>
          </a:stretch>
        </p:blipFill>
        <p:spPr>
          <a:xfrm>
            <a:off x="1706631" y="1874385"/>
            <a:ext cx="5730737" cy="3109229"/>
          </a:xfrm>
          <a:prstGeom prst="rect">
            <a:avLst/>
          </a:prstGeom>
        </p:spPr>
      </p:pic>
    </p:spTree>
    <p:extLst>
      <p:ext uri="{BB962C8B-B14F-4D97-AF65-F5344CB8AC3E}">
        <p14:creationId xmlns:p14="http://schemas.microsoft.com/office/powerpoint/2010/main" val="1982570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9AC6-6591-279F-814C-C4165F54322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346EC39-F7AB-87F6-F04A-10FD1B195D7A}"/>
              </a:ext>
            </a:extLst>
          </p:cNvPr>
          <p:cNvSpPr txBox="1"/>
          <p:nvPr/>
        </p:nvSpPr>
        <p:spPr>
          <a:xfrm>
            <a:off x="1547664" y="804442"/>
            <a:ext cx="7344816" cy="3416320"/>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Sequence Diagram</a:t>
            </a:r>
            <a:endParaRPr lang="en-US" sz="32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a:buFont typeface="Wingdings" pitchFamily="2" charset="2"/>
              <a:buChar char="§"/>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271A5E5D-0897-CCFA-C21C-0F55D5B11B8F}"/>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251520" y="188640"/>
            <a:ext cx="1296144" cy="1253420"/>
          </a:xfrm>
          <a:prstGeom prst="rect">
            <a:avLst/>
          </a:prstGeom>
        </p:spPr>
      </p:pic>
      <p:pic>
        <p:nvPicPr>
          <p:cNvPr id="2" name="Picture 1">
            <a:extLst>
              <a:ext uri="{FF2B5EF4-FFF2-40B4-BE49-F238E27FC236}">
                <a16:creationId xmlns:a16="http://schemas.microsoft.com/office/drawing/2014/main" id="{FE187469-DE82-BF02-0E72-172E76703A8D}"/>
              </a:ext>
            </a:extLst>
          </p:cNvPr>
          <p:cNvPicPr>
            <a:picLocks noChangeAspect="1"/>
          </p:cNvPicPr>
          <p:nvPr/>
        </p:nvPicPr>
        <p:blipFill>
          <a:blip r:embed="rId3"/>
          <a:stretch>
            <a:fillRect/>
          </a:stretch>
        </p:blipFill>
        <p:spPr>
          <a:xfrm>
            <a:off x="1706631" y="1932302"/>
            <a:ext cx="6249745" cy="4305010"/>
          </a:xfrm>
          <a:prstGeom prst="rect">
            <a:avLst/>
          </a:prstGeom>
        </p:spPr>
      </p:pic>
    </p:spTree>
    <p:extLst>
      <p:ext uri="{BB962C8B-B14F-4D97-AF65-F5344CB8AC3E}">
        <p14:creationId xmlns:p14="http://schemas.microsoft.com/office/powerpoint/2010/main" val="460425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0B82E-52B3-8CE9-4514-F16938286D2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BE714B4-4E5A-7600-3C84-A126B72D77AE}"/>
              </a:ext>
            </a:extLst>
          </p:cNvPr>
          <p:cNvSpPr txBox="1"/>
          <p:nvPr/>
        </p:nvSpPr>
        <p:spPr>
          <a:xfrm>
            <a:off x="1547664" y="804442"/>
            <a:ext cx="7344816" cy="3416320"/>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Activity Diagram</a:t>
            </a:r>
            <a:endParaRPr lang="en-US" sz="32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a:buFont typeface="Wingdings" pitchFamily="2" charset="2"/>
              <a:buChar char="§"/>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DAD73B23-7337-A4C7-6A52-7C7AC2A2BCA0}"/>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251520" y="188640"/>
            <a:ext cx="1296144" cy="1253420"/>
          </a:xfrm>
          <a:prstGeom prst="rect">
            <a:avLst/>
          </a:prstGeom>
        </p:spPr>
      </p:pic>
      <p:pic>
        <p:nvPicPr>
          <p:cNvPr id="3" name="Picture 2">
            <a:extLst>
              <a:ext uri="{FF2B5EF4-FFF2-40B4-BE49-F238E27FC236}">
                <a16:creationId xmlns:a16="http://schemas.microsoft.com/office/drawing/2014/main" id="{444EE9D3-6BC0-41C6-9DD7-6562210443E4}"/>
              </a:ext>
            </a:extLst>
          </p:cNvPr>
          <p:cNvPicPr>
            <a:picLocks noChangeAspect="1"/>
          </p:cNvPicPr>
          <p:nvPr/>
        </p:nvPicPr>
        <p:blipFill>
          <a:blip r:embed="rId3"/>
          <a:stretch>
            <a:fillRect/>
          </a:stretch>
        </p:blipFill>
        <p:spPr>
          <a:xfrm>
            <a:off x="3529493" y="1442060"/>
            <a:ext cx="2085013" cy="4687702"/>
          </a:xfrm>
          <a:prstGeom prst="rect">
            <a:avLst/>
          </a:prstGeom>
        </p:spPr>
      </p:pic>
    </p:spTree>
    <p:extLst>
      <p:ext uri="{BB962C8B-B14F-4D97-AF65-F5344CB8AC3E}">
        <p14:creationId xmlns:p14="http://schemas.microsoft.com/office/powerpoint/2010/main" val="1244441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536" y="116632"/>
            <a:ext cx="8496944" cy="6740307"/>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              Implementation</a:t>
            </a:r>
            <a:endParaRPr lang="en-US" sz="24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AC807FA4-A7D0-BC4A-7EDE-530ABEC789DD}"/>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378974" y="0"/>
            <a:ext cx="1296144" cy="1253420"/>
          </a:xfrm>
          <a:prstGeom prst="rect">
            <a:avLst/>
          </a:prstGeom>
        </p:spPr>
      </p:pic>
      <p:pic>
        <p:nvPicPr>
          <p:cNvPr id="9" name="Picture 8">
            <a:extLst>
              <a:ext uri="{FF2B5EF4-FFF2-40B4-BE49-F238E27FC236}">
                <a16:creationId xmlns:a16="http://schemas.microsoft.com/office/drawing/2014/main" id="{0E967FAA-7B92-757A-8ECB-38F738F2B0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837" y="1370052"/>
            <a:ext cx="7848325" cy="5487948"/>
          </a:xfrm>
          <a:prstGeom prst="rect">
            <a:avLst/>
          </a:prstGeom>
        </p:spPr>
      </p:pic>
    </p:spTree>
    <p:extLst>
      <p:ext uri="{BB962C8B-B14F-4D97-AF65-F5344CB8AC3E}">
        <p14:creationId xmlns:p14="http://schemas.microsoft.com/office/powerpoint/2010/main" val="3107888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4FCF8-2071-59B2-3E1E-485377F9A6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55683BB-7B74-AF66-B58D-660E56375281}"/>
              </a:ext>
            </a:extLst>
          </p:cNvPr>
          <p:cNvSpPr txBox="1"/>
          <p:nvPr/>
        </p:nvSpPr>
        <p:spPr>
          <a:xfrm>
            <a:off x="395536" y="116632"/>
            <a:ext cx="8496944" cy="6740307"/>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              Implementation</a:t>
            </a:r>
            <a:endParaRPr lang="en-US" sz="24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28A6945C-68BE-4A66-7EC1-48BA493854D1}"/>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378974" y="0"/>
            <a:ext cx="1296144" cy="1253420"/>
          </a:xfrm>
          <a:prstGeom prst="rect">
            <a:avLst/>
          </a:prstGeom>
        </p:spPr>
      </p:pic>
      <p:pic>
        <p:nvPicPr>
          <p:cNvPr id="3" name="Picture 2">
            <a:extLst>
              <a:ext uri="{FF2B5EF4-FFF2-40B4-BE49-F238E27FC236}">
                <a16:creationId xmlns:a16="http://schemas.microsoft.com/office/drawing/2014/main" id="{C837C98E-2252-832A-F60D-65A987E7E7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792" y="1253420"/>
            <a:ext cx="7500416" cy="5604580"/>
          </a:xfrm>
          <a:prstGeom prst="rect">
            <a:avLst/>
          </a:prstGeom>
        </p:spPr>
      </p:pic>
    </p:spTree>
    <p:extLst>
      <p:ext uri="{BB962C8B-B14F-4D97-AF65-F5344CB8AC3E}">
        <p14:creationId xmlns:p14="http://schemas.microsoft.com/office/powerpoint/2010/main" val="3830936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60236-79DA-07B2-4965-8E174DDE680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593680D-16A4-D56E-8DF5-FD49ECE8BC80}"/>
              </a:ext>
            </a:extLst>
          </p:cNvPr>
          <p:cNvSpPr txBox="1"/>
          <p:nvPr/>
        </p:nvSpPr>
        <p:spPr>
          <a:xfrm>
            <a:off x="395536" y="116632"/>
            <a:ext cx="8496944" cy="6740307"/>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              Implementation</a:t>
            </a:r>
            <a:endParaRPr lang="en-US" sz="24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D43A0FC4-CF13-2B2D-DA97-1999AD187CD3}"/>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378974" y="0"/>
            <a:ext cx="1296144" cy="1253420"/>
          </a:xfrm>
          <a:prstGeom prst="rect">
            <a:avLst/>
          </a:prstGeom>
        </p:spPr>
      </p:pic>
      <p:pic>
        <p:nvPicPr>
          <p:cNvPr id="9" name="Picture 8">
            <a:extLst>
              <a:ext uri="{FF2B5EF4-FFF2-40B4-BE49-F238E27FC236}">
                <a16:creationId xmlns:a16="http://schemas.microsoft.com/office/drawing/2014/main" id="{F4106ED0-C753-47D4-C68C-3548D5FACE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1680" y="954674"/>
            <a:ext cx="6871959" cy="5903326"/>
          </a:xfrm>
          <a:prstGeom prst="rect">
            <a:avLst/>
          </a:prstGeom>
        </p:spPr>
      </p:pic>
    </p:spTree>
    <p:extLst>
      <p:ext uri="{BB962C8B-B14F-4D97-AF65-F5344CB8AC3E}">
        <p14:creationId xmlns:p14="http://schemas.microsoft.com/office/powerpoint/2010/main" val="251379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5B5F7-9BBF-52DC-D5E0-089996E283F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0AB3B61-FE2F-7AA7-434A-6901B3A3E53F}"/>
              </a:ext>
            </a:extLst>
          </p:cNvPr>
          <p:cNvSpPr txBox="1"/>
          <p:nvPr/>
        </p:nvSpPr>
        <p:spPr>
          <a:xfrm>
            <a:off x="395536" y="116632"/>
            <a:ext cx="8496944" cy="6740307"/>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              Implementation</a:t>
            </a:r>
            <a:endParaRPr lang="en-US" sz="24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D7F28190-E23F-D78B-12DD-63F3A9ABFDF0}"/>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378974" y="0"/>
            <a:ext cx="1296144" cy="1253420"/>
          </a:xfrm>
          <a:prstGeom prst="rect">
            <a:avLst/>
          </a:prstGeom>
        </p:spPr>
      </p:pic>
      <p:pic>
        <p:nvPicPr>
          <p:cNvPr id="3" name="Picture 2">
            <a:extLst>
              <a:ext uri="{FF2B5EF4-FFF2-40B4-BE49-F238E27FC236}">
                <a16:creationId xmlns:a16="http://schemas.microsoft.com/office/drawing/2014/main" id="{6F45DE94-810C-DA2E-9916-60264D8D17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7624" y="1556792"/>
            <a:ext cx="7423481" cy="4874062"/>
          </a:xfrm>
          <a:prstGeom prst="rect">
            <a:avLst/>
          </a:prstGeom>
        </p:spPr>
      </p:pic>
    </p:spTree>
    <p:extLst>
      <p:ext uri="{BB962C8B-B14F-4D97-AF65-F5344CB8AC3E}">
        <p14:creationId xmlns:p14="http://schemas.microsoft.com/office/powerpoint/2010/main" val="352913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C52D6-B2C3-FC14-4355-ECBE7B29FA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3D6B118-F7DA-731C-5675-0A0AE1B8EF38}"/>
              </a:ext>
            </a:extLst>
          </p:cNvPr>
          <p:cNvSpPr txBox="1"/>
          <p:nvPr/>
        </p:nvSpPr>
        <p:spPr>
          <a:xfrm>
            <a:off x="1547664" y="804442"/>
            <a:ext cx="7596336" cy="400109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Results and Discussions</a:t>
            </a:r>
          </a:p>
          <a:p>
            <a:pPr marL="285750" indent="-285750" algn="just">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Improved Detection Accuracy Outcome </a:t>
            </a:r>
            <a:r>
              <a:rPr lang="en-US" dirty="0">
                <a:latin typeface="Times New Roman" panose="02020603050405020304" pitchFamily="18" charset="0"/>
                <a:cs typeface="Times New Roman" panose="02020603050405020304" pitchFamily="18" charset="0"/>
              </a:rPr>
              <a:t>:Enhanced precision and recall for polyp detection, including small and subtle polyps that are often missed by conventional methods.</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Enhanced Classification of Polyps Outcome: </a:t>
            </a:r>
            <a:r>
              <a:rPr lang="en-US" dirty="0">
                <a:latin typeface="Times New Roman" panose="02020603050405020304" pitchFamily="18" charset="0"/>
                <a:cs typeface="Times New Roman" panose="02020603050405020304" pitchFamily="18" charset="0"/>
              </a:rPr>
              <a:t>High classification accuracy in distinguishing between benign, precancerous, and malignant polyps.</a:t>
            </a:r>
          </a:p>
          <a:p>
            <a:pPr marL="285750" indent="-285750" algn="just">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Assessment of Cancer Risk Outcome: </a:t>
            </a:r>
            <a:r>
              <a:rPr lang="en-US" dirty="0">
                <a:latin typeface="Times New Roman" panose="02020603050405020304" pitchFamily="18" charset="0"/>
                <a:cs typeface="Times New Roman" panose="02020603050405020304" pitchFamily="18" charset="0"/>
              </a:rPr>
              <a:t>Provide a likelihood assessment of whether a detected polyp may develop into cancer.</a:t>
            </a:r>
          </a:p>
          <a:p>
            <a:pPr marL="285750" indent="-285750" algn="just">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B8235A73-D70C-89C1-66D3-620DD5D40737}"/>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251520" y="188640"/>
            <a:ext cx="1296144" cy="1253420"/>
          </a:xfrm>
          <a:prstGeom prst="rect">
            <a:avLst/>
          </a:prstGeom>
        </p:spPr>
      </p:pic>
    </p:spTree>
    <p:extLst>
      <p:ext uri="{BB962C8B-B14F-4D97-AF65-F5344CB8AC3E}">
        <p14:creationId xmlns:p14="http://schemas.microsoft.com/office/powerpoint/2010/main" val="1248374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08E98-A799-AE61-6EE7-5CC1CE66A88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B4A3480-4F63-8C96-EDC2-258509FB11DF}"/>
              </a:ext>
            </a:extLst>
          </p:cNvPr>
          <p:cNvSpPr txBox="1"/>
          <p:nvPr/>
        </p:nvSpPr>
        <p:spPr>
          <a:xfrm>
            <a:off x="1547664" y="804442"/>
            <a:ext cx="7596336" cy="200054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Results</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4EEEA0AF-3B77-C435-9C02-89C187BB639F}"/>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251520" y="188640"/>
            <a:ext cx="1296144" cy="1253420"/>
          </a:xfrm>
          <a:prstGeom prst="rect">
            <a:avLst/>
          </a:prstGeom>
        </p:spPr>
      </p:pic>
      <p:pic>
        <p:nvPicPr>
          <p:cNvPr id="3" name="Picture 2">
            <a:extLst>
              <a:ext uri="{FF2B5EF4-FFF2-40B4-BE49-F238E27FC236}">
                <a16:creationId xmlns:a16="http://schemas.microsoft.com/office/drawing/2014/main" id="{A9761251-59AC-10C6-303B-1D4A4EA052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68" y="1518501"/>
            <a:ext cx="8064896" cy="3820998"/>
          </a:xfrm>
          <a:prstGeom prst="rect">
            <a:avLst/>
          </a:prstGeom>
        </p:spPr>
      </p:pic>
    </p:spTree>
    <p:extLst>
      <p:ext uri="{BB962C8B-B14F-4D97-AF65-F5344CB8AC3E}">
        <p14:creationId xmlns:p14="http://schemas.microsoft.com/office/powerpoint/2010/main" val="42873794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60059-E643-7401-66D2-FD9E5FECF36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A9AA5C7-19E3-54F1-2888-BF3231F55565}"/>
              </a:ext>
            </a:extLst>
          </p:cNvPr>
          <p:cNvSpPr txBox="1"/>
          <p:nvPr/>
        </p:nvSpPr>
        <p:spPr>
          <a:xfrm>
            <a:off x="1547664" y="804442"/>
            <a:ext cx="7596336" cy="150810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Results</a:t>
            </a:r>
          </a:p>
          <a:p>
            <a:pPr marL="285750" indent="-285750" algn="just">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D14A1C95-9287-8B08-E091-EB45EAD01F00}"/>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251520" y="188640"/>
            <a:ext cx="1296144" cy="1253420"/>
          </a:xfrm>
          <a:prstGeom prst="rect">
            <a:avLst/>
          </a:prstGeom>
        </p:spPr>
      </p:pic>
      <p:pic>
        <p:nvPicPr>
          <p:cNvPr id="4" name="Picture 3">
            <a:extLst>
              <a:ext uri="{FF2B5EF4-FFF2-40B4-BE49-F238E27FC236}">
                <a16:creationId xmlns:a16="http://schemas.microsoft.com/office/drawing/2014/main" id="{CD79325A-A6C9-2EC1-C608-CA2F7ABB5A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615" y="1442060"/>
            <a:ext cx="7213687" cy="5415940"/>
          </a:xfrm>
          <a:prstGeom prst="rect">
            <a:avLst/>
          </a:prstGeom>
        </p:spPr>
      </p:pic>
    </p:spTree>
    <p:extLst>
      <p:ext uri="{BB962C8B-B14F-4D97-AF65-F5344CB8AC3E}">
        <p14:creationId xmlns:p14="http://schemas.microsoft.com/office/powerpoint/2010/main" val="16073027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C5386-1C6A-8A17-B794-AF983EBA25A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50E3679-9CA3-E4E6-AA8D-3E810CB6FFC8}"/>
              </a:ext>
            </a:extLst>
          </p:cNvPr>
          <p:cNvSpPr txBox="1"/>
          <p:nvPr/>
        </p:nvSpPr>
        <p:spPr>
          <a:xfrm>
            <a:off x="1547664" y="804442"/>
            <a:ext cx="7596336" cy="150810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Results</a:t>
            </a:r>
          </a:p>
          <a:p>
            <a:pPr marL="285750" indent="-285750" algn="just">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837E246A-273C-902D-CCA4-241FD1214394}"/>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251520" y="188640"/>
            <a:ext cx="1296144" cy="1253420"/>
          </a:xfrm>
          <a:prstGeom prst="rect">
            <a:avLst/>
          </a:prstGeom>
        </p:spPr>
      </p:pic>
      <p:pic>
        <p:nvPicPr>
          <p:cNvPr id="3" name="Picture 2">
            <a:extLst>
              <a:ext uri="{FF2B5EF4-FFF2-40B4-BE49-F238E27FC236}">
                <a16:creationId xmlns:a16="http://schemas.microsoft.com/office/drawing/2014/main" id="{314B6588-2098-9241-696D-85CA2DE674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1664493"/>
            <a:ext cx="8568952" cy="3529013"/>
          </a:xfrm>
          <a:prstGeom prst="rect">
            <a:avLst/>
          </a:prstGeom>
        </p:spPr>
      </p:pic>
    </p:spTree>
    <p:extLst>
      <p:ext uri="{BB962C8B-B14F-4D97-AF65-F5344CB8AC3E}">
        <p14:creationId xmlns:p14="http://schemas.microsoft.com/office/powerpoint/2010/main" val="668129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8668C-3C06-135F-72DE-CEAA60BB5E4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03454A2-E0C6-0EE4-2995-BF1517DA6D27}"/>
              </a:ext>
            </a:extLst>
          </p:cNvPr>
          <p:cNvSpPr txBox="1"/>
          <p:nvPr/>
        </p:nvSpPr>
        <p:spPr>
          <a:xfrm>
            <a:off x="1547664" y="804442"/>
            <a:ext cx="7596336" cy="649408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Conclusion</a:t>
            </a:r>
          </a:p>
          <a:p>
            <a:pPr marL="342900" indent="-342900" algn="ctr">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ea typeface="Calibri" panose="020F0502020204030204" pitchFamily="34" charset="0"/>
              </a:rPr>
              <a:t>T</a:t>
            </a:r>
            <a:r>
              <a:rPr lang="en-IN" sz="2000" dirty="0">
                <a:effectLst/>
                <a:latin typeface="Times New Roman" panose="02020603050405020304" pitchFamily="18" charset="0"/>
                <a:ea typeface="Calibri" panose="020F0502020204030204" pitchFamily="34" charset="0"/>
              </a:rPr>
              <a:t>his project successfully demonstrates the application of deep learning and computer vision to address one of the most critical challenges in modern healthcare the early detection and accurate classification of colorectal cancer polyps.</a:t>
            </a:r>
          </a:p>
          <a:p>
            <a:pPr marL="342900" indent="-342900" algn="just">
              <a:buFont typeface="Arial" panose="020B0604020202020204" pitchFamily="34" charset="0"/>
              <a:buChar char="•"/>
            </a:pPr>
            <a:r>
              <a:rPr lang="en-IN" sz="2000" dirty="0">
                <a:effectLst/>
                <a:latin typeface="Times New Roman" panose="02020603050405020304" pitchFamily="18" charset="0"/>
                <a:ea typeface="Calibri" panose="020F0502020204030204" pitchFamily="34" charset="0"/>
              </a:rPr>
              <a:t> By utilizing the YOLOv8 object detection algorithm, enhanced through transfer learning on domain-specific medical datasets, the system achieves efficient and reliable detection of polyps in colonoscopy and endoscopy images.</a:t>
            </a:r>
          </a:p>
          <a:p>
            <a:pPr marL="342900" indent="-342900" algn="just">
              <a:buFont typeface="Arial" panose="020B0604020202020204" pitchFamily="34" charset="0"/>
              <a:buChar char="•"/>
            </a:pPr>
            <a:r>
              <a:rPr lang="en-IN" sz="2000" dirty="0">
                <a:effectLst/>
                <a:latin typeface="Times New Roman" panose="02020603050405020304" pitchFamily="18" charset="0"/>
                <a:ea typeface="Calibri" panose="020F0502020204030204" pitchFamily="34" charset="0"/>
              </a:rPr>
              <a:t>A key strength of the project lies in its deployment-ready architecture, with a Streamlet-based web interface that allows seamless image uploads, real-time detection, and visual output that includes bounding boxes, classification labels, and confidence scores. </a:t>
            </a:r>
          </a:p>
          <a:p>
            <a:pPr marL="342900" indent="-342900" algn="just">
              <a:buFont typeface="Arial" panose="020B0604020202020204" pitchFamily="34" charset="0"/>
              <a:buChar char="•"/>
            </a:pPr>
            <a:r>
              <a:rPr lang="en-IN" sz="2000" dirty="0">
                <a:effectLst/>
                <a:latin typeface="Times New Roman" panose="02020603050405020304" pitchFamily="18" charset="0"/>
                <a:ea typeface="Calibri" panose="020F0502020204030204" pitchFamily="34" charset="0"/>
              </a:rPr>
              <a:t>The system is further supported by robust performance metrics such as accuracy, precision, recall, and F1-score, ensuring transparency and aiding in clinical decision-making. </a:t>
            </a:r>
            <a:endParaRPr lang="en-US" sz="20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C2FF38F0-761B-ED0B-F04D-51BAD53BDCC7}"/>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251520" y="188640"/>
            <a:ext cx="1296144" cy="1253420"/>
          </a:xfrm>
          <a:prstGeom prst="rect">
            <a:avLst/>
          </a:prstGeom>
        </p:spPr>
      </p:pic>
    </p:spTree>
    <p:extLst>
      <p:ext uri="{BB962C8B-B14F-4D97-AF65-F5344CB8AC3E}">
        <p14:creationId xmlns:p14="http://schemas.microsoft.com/office/powerpoint/2010/main" val="1016463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41B81-D81F-9698-72A2-53A54ADED51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0270205-0234-319F-C91F-B56980CEF357}"/>
              </a:ext>
            </a:extLst>
          </p:cNvPr>
          <p:cNvSpPr txBox="1"/>
          <p:nvPr/>
        </p:nvSpPr>
        <p:spPr>
          <a:xfrm>
            <a:off x="1547664" y="804442"/>
            <a:ext cx="7596336" cy="5168081"/>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References</a:t>
            </a:r>
          </a:p>
          <a:p>
            <a:pPr algn="ctr"/>
            <a:endParaRPr lang="en-US" sz="2400" b="1"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US" sz="1100" dirty="0">
                <a:effectLst/>
                <a:latin typeface="Times New Roman" panose="02020603050405020304" pitchFamily="18" charset="0"/>
                <a:ea typeface="Calibri" panose="020F0502020204030204" pitchFamily="34" charset="0"/>
              </a:rPr>
              <a:t>Luo, R., &amp; Bocklitz, T. (2023). An in-depth analysis of transfer learning techniques applied to colorectal cancer detection. </a:t>
            </a:r>
            <a:r>
              <a:rPr lang="en-US" sz="1100" i="1" dirty="0">
                <a:effectLst/>
                <a:latin typeface="Times New Roman" panose="02020603050405020304" pitchFamily="18" charset="0"/>
                <a:ea typeface="Calibri" panose="020F0502020204030204" pitchFamily="34" charset="0"/>
              </a:rPr>
              <a:t>Informatics in Medicine Unlocked</a:t>
            </a:r>
            <a:r>
              <a:rPr lang="en-US" sz="1100" dirty="0">
                <a:effectLst/>
                <a:latin typeface="Times New Roman" panose="02020603050405020304" pitchFamily="18" charset="0"/>
                <a:ea typeface="Calibri" panose="020F0502020204030204" pitchFamily="34" charset="0"/>
              </a:rPr>
              <a:t>, 40, 101292.</a:t>
            </a:r>
            <a:endParaRPr lang="en-IN" sz="1100" dirty="0">
              <a:effectLst/>
              <a:latin typeface="Times New Roman" panose="02020603050405020304" pitchFamily="18" charset="0"/>
              <a:ea typeface="Calibri" panose="020F0502020204030204" pitchFamily="34" charset="0"/>
            </a:endParaRPr>
          </a:p>
          <a:p>
            <a:pPr marL="342900" lvl="0" indent="-342900" algn="just">
              <a:lnSpc>
                <a:spcPct val="150000"/>
              </a:lnSpc>
              <a:buFont typeface="+mj-lt"/>
              <a:buAutoNum type="arabicPeriod"/>
            </a:pPr>
            <a:r>
              <a:rPr lang="en-US" sz="1100" dirty="0">
                <a:effectLst/>
                <a:latin typeface="Times New Roman" panose="02020603050405020304" pitchFamily="18" charset="0"/>
                <a:ea typeface="Calibri" panose="020F0502020204030204" pitchFamily="34" charset="0"/>
              </a:rPr>
              <a:t>Ohata, E. F., Chagas, J. V. S. D., Bezerra, G. M., Hassan, M. M., de Albuquerque, V. H. C., &amp; Filho, P. P. R. (2021). A novel method utilizing transfer learning for classifying histological colorectal cancer images. </a:t>
            </a:r>
            <a:r>
              <a:rPr lang="en-US" sz="1100" i="1" dirty="0">
                <a:effectLst/>
                <a:latin typeface="Times New Roman" panose="02020603050405020304" pitchFamily="18" charset="0"/>
                <a:ea typeface="Calibri" panose="020F0502020204030204" pitchFamily="34" charset="0"/>
              </a:rPr>
              <a:t>The Journal of Supercomputing</a:t>
            </a:r>
            <a:r>
              <a:rPr lang="en-US" sz="1100" dirty="0">
                <a:effectLst/>
                <a:latin typeface="Times New Roman" panose="02020603050405020304" pitchFamily="18" charset="0"/>
                <a:ea typeface="Calibri" panose="020F0502020204030204" pitchFamily="34" charset="0"/>
              </a:rPr>
              <a:t>, 1-26.</a:t>
            </a:r>
            <a:endParaRPr lang="en-IN" sz="1100" dirty="0">
              <a:effectLst/>
              <a:latin typeface="Times New Roman" panose="02020603050405020304" pitchFamily="18" charset="0"/>
              <a:ea typeface="Calibri" panose="020F0502020204030204" pitchFamily="34" charset="0"/>
            </a:endParaRPr>
          </a:p>
          <a:p>
            <a:pPr marL="342900" lvl="0" indent="-342900" algn="just">
              <a:lnSpc>
                <a:spcPct val="150000"/>
              </a:lnSpc>
              <a:buFont typeface="+mj-lt"/>
              <a:buAutoNum type="arabicPeriod"/>
            </a:pPr>
            <a:r>
              <a:rPr lang="en-US" sz="1100" dirty="0">
                <a:effectLst/>
                <a:latin typeface="Times New Roman" panose="02020603050405020304" pitchFamily="18" charset="0"/>
                <a:ea typeface="Calibri" panose="020F0502020204030204" pitchFamily="34" charset="0"/>
              </a:rPr>
              <a:t>Khan, A., Brouwer, N., Blank, A., Müller, F., Soldini, D., Noske, A., et al. (2023). Transfer learning-based ensemble models for computer-assisted diagnosis of lymph node metastases in colorectal cancer. </a:t>
            </a:r>
            <a:r>
              <a:rPr lang="en-US" sz="1100" i="1" dirty="0">
                <a:effectLst/>
                <a:latin typeface="Times New Roman" panose="02020603050405020304" pitchFamily="18" charset="0"/>
                <a:ea typeface="Calibri" panose="020F0502020204030204" pitchFamily="34" charset="0"/>
              </a:rPr>
              <a:t>Modern Pathology</a:t>
            </a:r>
            <a:r>
              <a:rPr lang="en-US" sz="1100" dirty="0">
                <a:effectLst/>
                <a:latin typeface="Times New Roman" panose="02020603050405020304" pitchFamily="18" charset="0"/>
                <a:ea typeface="Calibri" panose="020F0502020204030204" pitchFamily="34" charset="0"/>
              </a:rPr>
              <a:t>, 36(5), 100118.</a:t>
            </a:r>
            <a:endParaRPr lang="en-IN" sz="1100" dirty="0">
              <a:effectLst/>
              <a:latin typeface="Times New Roman" panose="02020603050405020304" pitchFamily="18" charset="0"/>
              <a:ea typeface="Calibri" panose="020F0502020204030204" pitchFamily="34" charset="0"/>
            </a:endParaRPr>
          </a:p>
          <a:p>
            <a:pPr marL="342900" lvl="0" indent="-342900" algn="just">
              <a:lnSpc>
                <a:spcPct val="150000"/>
              </a:lnSpc>
              <a:buFont typeface="+mj-lt"/>
              <a:buAutoNum type="arabicPeriod"/>
            </a:pPr>
            <a:r>
              <a:rPr lang="en-US" sz="1100" dirty="0">
                <a:effectLst/>
                <a:latin typeface="Times New Roman" panose="02020603050405020304" pitchFamily="18" charset="0"/>
                <a:ea typeface="Calibri" panose="020F0502020204030204" pitchFamily="34" charset="0"/>
              </a:rPr>
              <a:t>Kassani, S. H., Kassani, P. H., Wesolowski, M. J., Schneider, K. A., &amp; Deters, R. (2022). Comparative evaluation of deep transfer learning models for colorectal cancer histopathology segmentation. </a:t>
            </a:r>
            <a:r>
              <a:rPr lang="en-US" sz="1100" i="1" dirty="0">
                <a:effectLst/>
                <a:latin typeface="Times New Roman" panose="02020603050405020304" pitchFamily="18" charset="0"/>
                <a:ea typeface="Calibri" panose="020F0502020204030204" pitchFamily="34" charset="0"/>
              </a:rPr>
              <a:t>International Journal of Medical Informatics</a:t>
            </a:r>
            <a:r>
              <a:rPr lang="en-US" sz="1100" dirty="0">
                <a:effectLst/>
                <a:latin typeface="Times New Roman" panose="02020603050405020304" pitchFamily="18" charset="0"/>
                <a:ea typeface="Calibri" panose="020F0502020204030204" pitchFamily="34" charset="0"/>
              </a:rPr>
              <a:t>, 159, 104669.</a:t>
            </a:r>
            <a:endParaRPr lang="en-IN" sz="1100" dirty="0">
              <a:effectLst/>
              <a:latin typeface="Times New Roman" panose="02020603050405020304" pitchFamily="18" charset="0"/>
              <a:ea typeface="Calibri" panose="020F0502020204030204" pitchFamily="34" charset="0"/>
            </a:endParaRPr>
          </a:p>
          <a:p>
            <a:pPr marL="342900" lvl="0" indent="-342900" algn="just">
              <a:lnSpc>
                <a:spcPct val="150000"/>
              </a:lnSpc>
              <a:spcAft>
                <a:spcPts val="1000"/>
              </a:spcAft>
              <a:buFont typeface="+mj-lt"/>
              <a:buAutoNum type="arabicPeriod"/>
            </a:pPr>
            <a:r>
              <a:rPr lang="en-US" sz="1100" dirty="0">
                <a:effectLst/>
                <a:latin typeface="Times New Roman" panose="02020603050405020304" pitchFamily="18" charset="0"/>
                <a:ea typeface="Calibri" panose="020F0502020204030204" pitchFamily="34" charset="0"/>
              </a:rPr>
              <a:t>Ragab, M., Mahmoud, M. M., Asseri, A. H., Choudhry, H., &amp; Yacoub, H. A. (2023). Development of an optimized deep transfer learning model for colorectal cancer detection and classification. </a:t>
            </a:r>
            <a:r>
              <a:rPr lang="en-US" sz="1100" i="1" dirty="0">
                <a:effectLst/>
                <a:latin typeface="Times New Roman" panose="02020603050405020304" pitchFamily="18" charset="0"/>
                <a:ea typeface="Calibri" panose="020F0502020204030204" pitchFamily="34" charset="0"/>
              </a:rPr>
              <a:t>Computers, Materials &amp; Continua</a:t>
            </a:r>
            <a:r>
              <a:rPr lang="en-US" sz="1100" dirty="0">
                <a:effectLst/>
                <a:latin typeface="Times New Roman" panose="02020603050405020304" pitchFamily="18" charset="0"/>
                <a:ea typeface="Calibri" panose="020F0502020204030204" pitchFamily="34" charset="0"/>
              </a:rPr>
              <a:t>, 74(2).</a:t>
            </a:r>
            <a:endParaRPr lang="en-IN" sz="1100" dirty="0">
              <a:effectLst/>
              <a:latin typeface="Times New Roman" panose="02020603050405020304" pitchFamily="18" charset="0"/>
              <a:ea typeface="Calibri" panose="020F0502020204030204" pitchFamily="34" charset="0"/>
            </a:endParaRPr>
          </a:p>
          <a:p>
            <a:pPr algn="ctr"/>
            <a:endParaRPr lang="en-US" sz="24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3D13C346-3FE8-FD4A-E77F-80B6C5B0097E}"/>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251520" y="188640"/>
            <a:ext cx="1296144" cy="1253420"/>
          </a:xfrm>
          <a:prstGeom prst="rect">
            <a:avLst/>
          </a:prstGeom>
        </p:spPr>
      </p:pic>
    </p:spTree>
    <p:extLst>
      <p:ext uri="{BB962C8B-B14F-4D97-AF65-F5344CB8AC3E}">
        <p14:creationId xmlns:p14="http://schemas.microsoft.com/office/powerpoint/2010/main" val="1105911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27784" y="2420888"/>
            <a:ext cx="8153400" cy="3939540"/>
          </a:xfrm>
          <a:prstGeom prst="rect">
            <a:avLst/>
          </a:prstGeom>
          <a:noFill/>
        </p:spPr>
        <p:txBody>
          <a:bodyPr wrap="square" rtlCol="0">
            <a:spAutoFit/>
          </a:bodyPr>
          <a:lstStyle/>
          <a:p>
            <a:r>
              <a:rPr lang="en-US" sz="6600" b="1" dirty="0">
                <a:latin typeface="Times New Roman" panose="02020603050405020304" pitchFamily="18" charset="0"/>
                <a:cs typeface="Times New Roman" panose="02020603050405020304" pitchFamily="18" charset="0"/>
              </a:rPr>
              <a:t>Thank You</a:t>
            </a:r>
            <a:endParaRPr lang="en-US" sz="66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a:buFont typeface="Wingdings" pitchFamily="2" charset="2"/>
              <a:buChar char="§"/>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AC807FA4-A7D0-BC4A-7EDE-530ABEC789DD}"/>
              </a:ext>
            </a:extLst>
          </p:cNvPr>
          <p:cNvPicPr>
            <a:picLocks noChangeAspect="1"/>
          </p:cNvPicPr>
          <p:nvPr/>
        </p:nvPicPr>
        <p:blipFill rotWithShape="1">
          <a:blip r:embed="rId2">
            <a:extLst>
              <a:ext uri="{28A0092B-C50C-407E-A947-70E740481C1C}">
                <a14:useLocalDpi xmlns:a14="http://schemas.microsoft.com/office/drawing/2010/main" val="0"/>
              </a:ext>
            </a:extLst>
          </a:blip>
          <a:srcRect t="3726"/>
          <a:stretch/>
        </p:blipFill>
        <p:spPr>
          <a:xfrm>
            <a:off x="251520" y="188640"/>
            <a:ext cx="1296144" cy="1253420"/>
          </a:xfrm>
          <a:prstGeom prst="rect">
            <a:avLst/>
          </a:prstGeom>
        </p:spPr>
      </p:pic>
    </p:spTree>
    <p:extLst>
      <p:ext uri="{BB962C8B-B14F-4D97-AF65-F5344CB8AC3E}">
        <p14:creationId xmlns:p14="http://schemas.microsoft.com/office/powerpoint/2010/main" val="2647829658"/>
      </p:ext>
    </p:extLst>
  </p:cSld>
  <p:clrMapOvr>
    <a:masterClrMapping/>
  </p:clrMapOvr>
</p:sld>
</file>

<file path=ppt/theme/theme1.xml><?xml version="1.0" encoding="utf-8"?>
<a:theme xmlns:a="http://schemas.openxmlformats.org/drawingml/2006/main" name="View">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TM03457515[[fn=View]]</Template>
  <TotalTime>3821</TotalTime>
  <Words>1697</Words>
  <Application>Microsoft Office PowerPoint</Application>
  <PresentationFormat>On-screen Show (4:3)</PresentationFormat>
  <Paragraphs>302</Paragraphs>
  <Slides>25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Century Schoolbook</vt:lpstr>
      <vt:lpstr>Times New Roman</vt:lpstr>
      <vt:lpstr>Wingdings</vt:lpstr>
      <vt:lpstr>Wingdings 2</vt:lpstr>
      <vt:lpstr>View</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DSCE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AIML</dc:creator>
  <cp:lastModifiedBy>Lahari Yelamati</cp:lastModifiedBy>
  <cp:revision>502</cp:revision>
  <dcterms:created xsi:type="dcterms:W3CDTF">2013-03-22T06:20:01Z</dcterms:created>
  <dcterms:modified xsi:type="dcterms:W3CDTF">2026-06-17T05:59:21Z</dcterms:modified>
</cp:coreProperties>
</file>